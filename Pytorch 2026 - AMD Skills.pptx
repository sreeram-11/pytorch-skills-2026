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26"/>
  </p:sldMasterIdLst>
  <p:notesMasterIdLst>
    <p:notesMasterId r:id="rId46"/>
  </p:notesMasterIdLst>
  <p:handoutMasterIdLst>
    <p:handoutMasterId r:id="rId47"/>
  </p:handoutMasterIdLst>
  <p:sldIdLst>
    <p:sldId id="284" r:id="rId27"/>
    <p:sldId id="280" r:id="rId28"/>
    <p:sldId id="2147483249" r:id="rId29"/>
    <p:sldId id="2147483252" r:id="rId30"/>
    <p:sldId id="274" r:id="rId31"/>
    <p:sldId id="285" r:id="rId32"/>
    <p:sldId id="286" r:id="rId33"/>
    <p:sldId id="287" r:id="rId34"/>
    <p:sldId id="2147483253" r:id="rId35"/>
    <p:sldId id="2147483256" r:id="rId36"/>
    <p:sldId id="2147483257" r:id="rId37"/>
    <p:sldId id="258" r:id="rId38"/>
    <p:sldId id="2147483255" r:id="rId39"/>
    <p:sldId id="2147483250" r:id="rId40"/>
    <p:sldId id="2147483247" r:id="rId41"/>
    <p:sldId id="2147483248" r:id="rId42"/>
    <p:sldId id="2147483251" r:id="rId43"/>
    <p:sldId id="256" r:id="rId44"/>
    <p:sldId id="283" r:id="rId45"/>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522"/>
    <a:srgbClr val="E97039"/>
    <a:srgbClr val="00C2DE"/>
    <a:srgbClr val="8D8C95"/>
    <a:srgbClr val="000000"/>
    <a:srgbClr val="262626"/>
    <a:srgbClr val="131313"/>
    <a:srgbClr val="242428"/>
    <a:srgbClr val="19181C"/>
    <a:srgbClr val="E153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E45A22-2ED5-4E39-AF29-3216AE640A57}" v="1039" dt="2026-10-19T16:45:32.4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Master" Target="slideMasters/slideMaster1.xml"/><Relationship Id="rId39" Type="http://schemas.openxmlformats.org/officeDocument/2006/relationships/slide" Target="slides/slide13.xml"/><Relationship Id="rId21" Type="http://schemas.openxmlformats.org/officeDocument/2006/relationships/customXml" Target="../customXml/item21.xml"/><Relationship Id="rId34" Type="http://schemas.openxmlformats.org/officeDocument/2006/relationships/slide" Target="slides/slide8.xml"/><Relationship Id="rId42" Type="http://schemas.openxmlformats.org/officeDocument/2006/relationships/slide" Target="slides/slide16.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3.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 Target="slides/slide6.xml"/><Relationship Id="rId37" Type="http://schemas.openxmlformats.org/officeDocument/2006/relationships/slide" Target="slides/slide11.xml"/><Relationship Id="rId40" Type="http://schemas.openxmlformats.org/officeDocument/2006/relationships/slide" Target="slides/slide14.xml"/><Relationship Id="rId45" Type="http://schemas.openxmlformats.org/officeDocument/2006/relationships/slide" Target="slides/slide19.xml"/><Relationship Id="rId53" Type="http://schemas.microsoft.com/office/2015/10/relationships/revisionInfo" Target="revisionInfo.xml"/><Relationship Id="rId5" Type="http://schemas.openxmlformats.org/officeDocument/2006/relationships/customXml" Target="../customXml/item5.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 Target="slides/slide5.xml"/><Relationship Id="rId44" Type="http://schemas.openxmlformats.org/officeDocument/2006/relationships/slide" Target="slides/slide18.xml"/><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slide" Target="slides/slide1.xml"/><Relationship Id="rId30" Type="http://schemas.openxmlformats.org/officeDocument/2006/relationships/slide" Target="slides/slide4.xml"/><Relationship Id="rId35" Type="http://schemas.openxmlformats.org/officeDocument/2006/relationships/slide" Target="slides/slide9.xml"/><Relationship Id="rId43" Type="http://schemas.openxmlformats.org/officeDocument/2006/relationships/slide" Target="slides/slide17.xml"/><Relationship Id="rId48" Type="http://schemas.openxmlformats.org/officeDocument/2006/relationships/commentAuthors" Target="commentAuthors.xml"/><Relationship Id="rId8" Type="http://schemas.openxmlformats.org/officeDocument/2006/relationships/customXml" Target="../customXml/item8.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 Target="slides/slide7.xml"/><Relationship Id="rId38" Type="http://schemas.openxmlformats.org/officeDocument/2006/relationships/slide" Target="slides/slide12.xml"/><Relationship Id="rId46" Type="http://schemas.openxmlformats.org/officeDocument/2006/relationships/notesMaster" Target="notesMasters/notesMaster1.xml"/><Relationship Id="rId20" Type="http://schemas.openxmlformats.org/officeDocument/2006/relationships/customXml" Target="../customXml/item20.xml"/><Relationship Id="rId41"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slide" Target="slides/slide2.xml"/><Relationship Id="rId36" Type="http://schemas.openxmlformats.org/officeDocument/2006/relationships/slide" Target="slides/slide10.xml"/><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10/19/2026 4:22 PM</a:t>
            </a:fld>
            <a:endParaRPr lang="en-US"/>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10/19/2026 4:21 PM</a:t>
            </a:fld>
            <a:endParaRPr lang="en-US"/>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241007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CD313-BBBF-49AF-FB05-5094CB291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89961D-D18C-B7E8-0BAA-A929B09194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E411077-D660-E775-DCF6-A3AC3EB3A859}"/>
              </a:ext>
            </a:extLst>
          </p:cNvPr>
          <p:cNvSpPr>
            <a:spLocks noGrp="1"/>
          </p:cNvSpPr>
          <p:nvPr>
            <p:ph type="body" idx="1"/>
          </p:nvPr>
        </p:nvSpPr>
        <p:spPr/>
        <p:txBody>
          <a:bodyPr/>
          <a:lstStyle/>
          <a:p>
            <a:r>
              <a:rPr lang="en-US" dirty="0"/>
              <a:t>I want to start this presentation with a question:</a:t>
            </a:r>
          </a:p>
          <a:p>
            <a:r>
              <a:rPr lang="en-US" dirty="0"/>
              <a:t>When was the last time that your agent failed at a task you </a:t>
            </a:r>
            <a:r>
              <a:rPr lang="en-US" dirty="0" err="1"/>
              <a:t>dind’t</a:t>
            </a:r>
            <a:r>
              <a:rPr lang="en-US" dirty="0"/>
              <a:t> expect it to fail? or maybe it achieved the goal, but just took a really long time to achieve that goal?</a:t>
            </a:r>
          </a:p>
          <a:p>
            <a:r>
              <a:rPr lang="en-US" dirty="0"/>
              <a:t>That actually happens fairly often, right? Turns out that, some times, all you need to do is to steer your model towards the right direction to begin with.</a:t>
            </a:r>
          </a:p>
          <a:p>
            <a:r>
              <a:rPr lang="en-US" dirty="0"/>
              <a:t>Use tool A, not tool B. Make sure you don’t forget to use this flag, and oh, btw, if you are using this specific hardware, this is the fastest backend to use.</a:t>
            </a:r>
          </a:p>
          <a:p>
            <a:endParaRPr lang="en-US" dirty="0"/>
          </a:p>
        </p:txBody>
      </p:sp>
      <p:sp>
        <p:nvSpPr>
          <p:cNvPr id="4" name="Slide Number Placeholder 3">
            <a:extLst>
              <a:ext uri="{FF2B5EF4-FFF2-40B4-BE49-F238E27FC236}">
                <a16:creationId xmlns:a16="http://schemas.microsoft.com/office/drawing/2014/main" id="{2C8EEC4E-04BD-00A4-1B69-A3AA2DB438B7}"/>
              </a:ext>
            </a:extLst>
          </p:cNvPr>
          <p:cNvSpPr>
            <a:spLocks noGrp="1"/>
          </p:cNvSpPr>
          <p:nvPr>
            <p:ph type="sldNum" sz="quarter" idx="5"/>
          </p:nvPr>
        </p:nvSpPr>
        <p:spPr/>
        <p:txBody>
          <a:bodyPr/>
          <a:lstStyle/>
          <a:p>
            <a:fld id="{C8638E68-DC42-498E-B62E-DDA22DC1B9B3}" type="slidenum">
              <a:rPr lang="en-US" smtClean="0"/>
              <a:t>2</a:t>
            </a:fld>
            <a:endParaRPr lang="en-US"/>
          </a:p>
        </p:txBody>
      </p:sp>
    </p:spTree>
    <p:extLst>
      <p:ext uri="{BB962C8B-B14F-4D97-AF65-F5344CB8AC3E}">
        <p14:creationId xmlns:p14="http://schemas.microsoft.com/office/powerpoint/2010/main" val="1347564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BCD0E-10E3-C020-1B87-0BD292AA9B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FE6FD-485F-7351-3D56-66321594B42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48229F-0A1D-ADC6-29F8-F760F980B5A7}"/>
              </a:ext>
            </a:extLst>
          </p:cNvPr>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This is why we created AMD Skills. To make your agents really good at assisting you with AMD technology. So you don’t have to worry about those details. </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a:t>You ask your agent something, you provide it with the right skills, and it just works.</a:t>
            </a:r>
          </a:p>
          <a:p>
            <a:br>
              <a:rPr lang="en-US"/>
            </a:br>
            <a:br>
              <a:rPr lang="en-US"/>
            </a:br>
            <a:r>
              <a:rPr lang="en-US"/>
              <a:t>Inside of AMD we also worked really hard at making sure you have access to skills across our product portfolio, making sure that those skills are high quality, and making sure you can get access to it from a single cohesive place.</a:t>
            </a:r>
          </a:p>
        </p:txBody>
      </p:sp>
      <p:sp>
        <p:nvSpPr>
          <p:cNvPr id="4" name="Footer Placeholder 3">
            <a:extLst>
              <a:ext uri="{FF2B5EF4-FFF2-40B4-BE49-F238E27FC236}">
                <a16:creationId xmlns:a16="http://schemas.microsoft.com/office/drawing/2014/main" id="{17E30398-DDB7-8D7B-7639-B7417BB61672}"/>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panose="020B0604020202020204" pitchFamily="34" charset="0"/>
                <a:ea typeface="Segoe UI" pitchFamily="34" charset="0"/>
                <a:cs typeface="Arial" panose="020B0604020202020204" pitchFamily="34" charset="0"/>
              </a:rPr>
              <a:t>© Advanced Micro Devices, Inc. All rights reserved. Confidential – Not for distribution.</a:t>
            </a:r>
          </a:p>
        </p:txBody>
      </p:sp>
      <p:sp>
        <p:nvSpPr>
          <p:cNvPr id="5" name="Slide Number Placeholder 4">
            <a:extLst>
              <a:ext uri="{FF2B5EF4-FFF2-40B4-BE49-F238E27FC236}">
                <a16:creationId xmlns:a16="http://schemas.microsoft.com/office/drawing/2014/main" id="{7B8A7764-23CE-4349-ED04-6E1C46602AC5}"/>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9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27002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3A259-27A3-8B19-2311-3E7B4FFB1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44935E-B312-B89B-BED5-453D88EC55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A23ADC-36C5-7847-B8A2-349DE03368C0}"/>
              </a:ext>
            </a:extLst>
          </p:cNvPr>
          <p:cNvSpPr>
            <a:spLocks noGrp="1"/>
          </p:cNvSpPr>
          <p:nvPr>
            <p:ph type="body" idx="1"/>
          </p:nvPr>
        </p:nvSpPr>
        <p:spPr/>
        <p:txBody>
          <a:bodyPr/>
          <a:lstStyle/>
          <a:p>
            <a:r>
              <a:rPr lang="en-US" sz="1200" b="0" i="0">
                <a:solidFill>
                  <a:srgbClr val="F0F6FC"/>
                </a:solidFill>
                <a:effectLst/>
                <a:latin typeface="Mona Sans VF"/>
              </a:rPr>
              <a:t>: detect hardware (or onboard via AMD Developer Cloud), validate model fit, apply the right vLLM recipe, and launch a benchmarked endpoint. SGLang and engine/backend selection in later phases.</a:t>
            </a:r>
            <a:endParaRPr lang="en-US"/>
          </a:p>
        </p:txBody>
      </p:sp>
      <p:sp>
        <p:nvSpPr>
          <p:cNvPr id="4" name="Footer Placeholder 3">
            <a:extLst>
              <a:ext uri="{FF2B5EF4-FFF2-40B4-BE49-F238E27FC236}">
                <a16:creationId xmlns:a16="http://schemas.microsoft.com/office/drawing/2014/main" id="{50975324-6345-FB9A-9A59-9398A83B491E}"/>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panose="020B0604020202020204" pitchFamily="34" charset="0"/>
                <a:ea typeface="Segoe UI" pitchFamily="34" charset="0"/>
                <a:cs typeface="Arial" panose="020B0604020202020204" pitchFamily="34" charset="0"/>
              </a:rPr>
              <a:t>© Advanced Micro Devices, Inc. All rights reserved. Confidential – Not for distribution.</a:t>
            </a:r>
          </a:p>
        </p:txBody>
      </p:sp>
      <p:sp>
        <p:nvSpPr>
          <p:cNvPr id="5" name="Slide Number Placeholder 4">
            <a:extLst>
              <a:ext uri="{FF2B5EF4-FFF2-40B4-BE49-F238E27FC236}">
                <a16:creationId xmlns:a16="http://schemas.microsoft.com/office/drawing/2014/main" id="{6C5BD6F3-279F-2ED1-A3E3-7339524B87D3}"/>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9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018685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90718-F5D5-04FD-B295-28C27DE002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FA6429-AD36-9976-12A2-91B481260B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F15F9A9-3E06-4BA1-88C1-6297D3B43EF5}"/>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3FDA59FE-3C0A-30BD-C11A-CCD342B331E1}"/>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prstClr val="black"/>
                </a:solidFill>
                <a:effectLst/>
                <a:uLnTx/>
                <a:uFillTx/>
                <a:latin typeface="Arial" panose="020B0604020202020204" pitchFamily="34" charset="0"/>
                <a:ea typeface="Segoe UI" pitchFamily="34" charset="0"/>
                <a:cs typeface="Arial" panose="020B0604020202020204" pitchFamily="34" charset="0"/>
              </a:rPr>
              <a:t>© Advanced Micro Devices, Inc. All rights reserved. Confidential – Not for distribution.</a:t>
            </a:r>
          </a:p>
        </p:txBody>
      </p:sp>
      <p:sp>
        <p:nvSpPr>
          <p:cNvPr id="5" name="Slide Number Placeholder 4">
            <a:extLst>
              <a:ext uri="{FF2B5EF4-FFF2-40B4-BE49-F238E27FC236}">
                <a16:creationId xmlns:a16="http://schemas.microsoft.com/office/drawing/2014/main" id="{36A61B4A-D36A-28BB-871B-9548AABFE858}"/>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9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295832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247979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359AF-03F2-39AC-80B9-37CE48014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8ADE3A-C58F-0547-35A1-FFBDB2311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A26E3-E900-AC9D-8E52-0F96A23BADC1}"/>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86A9825F-9DEB-B8B1-3C05-C050E4675458}"/>
              </a:ext>
            </a:extLst>
          </p:cNvPr>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a:extLst>
              <a:ext uri="{FF2B5EF4-FFF2-40B4-BE49-F238E27FC236}">
                <a16:creationId xmlns:a16="http://schemas.microsoft.com/office/drawing/2014/main" id="{FEF86C8B-E9B7-53B1-1C8D-365477A2398D}"/>
              </a:ext>
            </a:extLst>
          </p:cNvPr>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4216479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19103876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703641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DB40D-54E0-D081-4278-1FF8E12D7A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9C365-5E2E-82FC-9F8B-7E0981AF71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F9E3665-76CF-4432-C41E-6CF5AD8F22A5}"/>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52EEB2D9-CB8B-95C9-C235-27F2CC225079}"/>
              </a:ext>
            </a:extLst>
          </p:cNvPr>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a:extLst>
              <a:ext uri="{FF2B5EF4-FFF2-40B4-BE49-F238E27FC236}">
                <a16:creationId xmlns:a16="http://schemas.microsoft.com/office/drawing/2014/main" id="{745F3E06-AC3D-3B09-985D-B38318F38548}"/>
              </a:ext>
            </a:extLst>
          </p:cNvPr>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432724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33238-CCB9-F066-A381-E99D3F737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70A44F-A21B-8F36-6C21-05905564CD4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1184686-90E7-EB67-1E03-619FEE44F25C}"/>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F0A3685E-43E1-3953-6F1C-0E51C4F338CC}"/>
              </a:ext>
            </a:extLst>
          </p:cNvPr>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a:extLst>
              <a:ext uri="{FF2B5EF4-FFF2-40B4-BE49-F238E27FC236}">
                <a16:creationId xmlns:a16="http://schemas.microsoft.com/office/drawing/2014/main" id="{BF1E47A6-69BB-42ED-B0D1-85442607AC1D}"/>
              </a:ext>
            </a:extLst>
          </p:cNvPr>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2246344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p:cNvSpPr>
            <a:spLocks noGrp="1"/>
          </p:cNvSpPr>
          <p:nvPr>
            <p:ph type="sldNum" sz="quarter" idx="5"/>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715111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593421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11158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2" orient="horz" pos="903"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3" orient="horz" pos="903"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picture containing text, clipart&#10;&#10;Description automatically generated">
            <a:extLst>
              <a:ext uri="{FF2B5EF4-FFF2-40B4-BE49-F238E27FC236}">
                <a16:creationId xmlns:a16="http://schemas.microsoft.com/office/drawing/2014/main" id="{DE9FE114-78A5-00B6-2209-5248EF59E61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3" orient="horz" pos="904"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AFD824D3-B0BF-F030-6A67-C1DF579938E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pic>
        <p:nvPicPr>
          <p:cNvPr id="25" name="Picture 24" descr="A picture containing text, clipart&#10;&#10;Description automatically generated">
            <a:extLst>
              <a:ext uri="{FF2B5EF4-FFF2-40B4-BE49-F238E27FC236}">
                <a16:creationId xmlns:a16="http://schemas.microsoft.com/office/drawing/2014/main" id="{B598498A-FA22-D4DA-FA61-484A6A7EB04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pic>
        <p:nvPicPr>
          <p:cNvPr id="2" name="Picture 1" descr="A picture containing text, clipart&#10;&#10;Description automatically generated">
            <a:extLst>
              <a:ext uri="{FF2B5EF4-FFF2-40B4-BE49-F238E27FC236}">
                <a16:creationId xmlns:a16="http://schemas.microsoft.com/office/drawing/2014/main" id="{072A27EA-9A25-03D6-F6CD-53BB65C4234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7239143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pic>
        <p:nvPicPr>
          <p:cNvPr id="5" name="Picture 4">
            <a:extLst>
              <a:ext uri="{FF2B5EF4-FFF2-40B4-BE49-F238E27FC236}">
                <a16:creationId xmlns:a16="http://schemas.microsoft.com/office/drawing/2014/main" id="{767D67B8-90AB-642F-D3C2-79B0D799917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5217" y="5449153"/>
            <a:ext cx="2176078" cy="518616"/>
          </a:xfrm>
          <a:prstGeom prst="rect">
            <a:avLst/>
          </a:prstGeom>
        </p:spPr>
      </p:pic>
      <p:cxnSp>
        <p:nvCxnSpPr>
          <p:cNvPr id="6" name="Straight Connector 5">
            <a:extLst>
              <a:ext uri="{FF2B5EF4-FFF2-40B4-BE49-F238E27FC236}">
                <a16:creationId xmlns:a16="http://schemas.microsoft.com/office/drawing/2014/main" id="{951B2658-BBE5-FF50-3A49-A12C7B1EA044}"/>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9800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a:t>Drag and drop your photo here</a:t>
            </a:r>
            <a:br>
              <a:rPr lang="en-US"/>
            </a:br>
            <a:r>
              <a:rPr lang="en-US"/>
              <a:t>or click or tap icon below</a:t>
            </a:r>
            <a:br>
              <a:rPr lang="en-US"/>
            </a:br>
            <a:r>
              <a:rPr lang="en-US"/>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639FD31F-D9C5-7581-C456-D6B4203F1B5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EA5C0E5E-8E02-C45B-9DC3-C30B8953CC1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5618E84E-C602-EEFD-DA07-5A1A142489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68486435"/>
      </p:ext>
    </p:extLst>
  </p:cSld>
  <p:clrMapOvr>
    <a:masterClrMapping/>
  </p:clrMapOvr>
  <p:transition>
    <p:fade/>
  </p:transition>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p>
        </p:txBody>
      </p:sp>
      <p:pic>
        <p:nvPicPr>
          <p:cNvPr id="2" name="Picture 1" descr="A picture containing text, clipart&#10;&#10;Description automatically generated">
            <a:extLst>
              <a:ext uri="{FF2B5EF4-FFF2-40B4-BE49-F238E27FC236}">
                <a16:creationId xmlns:a16="http://schemas.microsoft.com/office/drawing/2014/main" id="{1DCF18E0-53B0-CA09-B057-06DC49AD5734}"/>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97005379"/>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C112B4FC-613C-9CF8-41B7-970931817B9A}"/>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767728E6-D31B-A5A2-A1BB-1AFEEB2F1185}"/>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146365264"/>
      </p:ext>
    </p:extLst>
  </p:cSld>
  <p:clrMapOvr>
    <a:masterClrMapping/>
  </p:clrMapOvr>
  <p:transition>
    <p:fade/>
  </p:transition>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a:t>Drag &amp; drop a</a:t>
            </a:r>
            <a:br>
              <a:rPr lang="en-US"/>
            </a:br>
            <a:r>
              <a:rPr lang="en-US"/>
              <a:t>screenshot here</a:t>
            </a:r>
            <a:br>
              <a:rPr lang="en-US"/>
            </a:br>
            <a:r>
              <a:rPr lang="en-US"/>
              <a:t>or click or tap icon</a:t>
            </a:r>
            <a:br>
              <a:rPr lang="en-US"/>
            </a:br>
            <a:r>
              <a:rPr lang="en-US"/>
              <a:t>below to insert</a:t>
            </a:r>
          </a:p>
        </p:txBody>
      </p:sp>
      <p:pic>
        <p:nvPicPr>
          <p:cNvPr id="2" name="Picture 1" descr="A picture containing text, clipart&#10;&#10;Description automatically generated">
            <a:extLst>
              <a:ext uri="{FF2B5EF4-FFF2-40B4-BE49-F238E27FC236}">
                <a16:creationId xmlns:a16="http://schemas.microsoft.com/office/drawing/2014/main" id="{248D9AB6-52A1-91EE-AE98-B0B0BE05AD7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descr="A picture containing text, clipart&#10;&#10;Description automatically generated">
            <a:extLst>
              <a:ext uri="{FF2B5EF4-FFF2-40B4-BE49-F238E27FC236}">
                <a16:creationId xmlns:a16="http://schemas.microsoft.com/office/drawing/2014/main" id="{80DE4C6A-1A4B-2F91-08F9-26625C8F149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clipart&#10;&#10;Description automatically generated">
            <a:extLst>
              <a:ext uri="{FF2B5EF4-FFF2-40B4-BE49-F238E27FC236}">
                <a16:creationId xmlns:a16="http://schemas.microsoft.com/office/drawing/2014/main" id="{33B76501-139F-DE3A-D0A0-CBCAD55D13E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a:t>Speaker name</a:t>
            </a:r>
          </a:p>
        </p:txBody>
      </p:sp>
      <p:pic>
        <p:nvPicPr>
          <p:cNvPr id="7" name="Picture 6">
            <a:extLst>
              <a:ext uri="{FF2B5EF4-FFF2-40B4-BE49-F238E27FC236}">
                <a16:creationId xmlns:a16="http://schemas.microsoft.com/office/drawing/2014/main" id="{8CD3A967-0FBB-34B4-4FB2-6A371308B5C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0955" y="3104745"/>
            <a:ext cx="6181081"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a:t>Divider slide title</a:t>
            </a:r>
          </a:p>
        </p:txBody>
      </p:sp>
      <p:sp>
        <p:nvSpPr>
          <p:cNvPr id="5" name="Text Placeholder 4"/>
          <p:cNvSpPr>
            <a:spLocks noGrp="1"/>
          </p:cNvSpPr>
          <p:nvPr>
            <p:ph type="body" sz="quarter" idx="12" hasCustomPrompt="1"/>
          </p:nvPr>
        </p:nvSpPr>
        <p:spPr>
          <a:xfrm>
            <a:off x="5290955" y="3680069"/>
            <a:ext cx="6181081"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a:t>Speaker name</a:t>
            </a:r>
          </a:p>
        </p:txBody>
      </p:sp>
    </p:spTree>
    <p:extLst>
      <p:ext uri="{BB962C8B-B14F-4D97-AF65-F5344CB8AC3E}">
        <p14:creationId xmlns:p14="http://schemas.microsoft.com/office/powerpoint/2010/main" val="373518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03521814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descr="A picture containing text, clipart&#10;&#10;Description automatically generated">
            <a:extLst>
              <a:ext uri="{FF2B5EF4-FFF2-40B4-BE49-F238E27FC236}">
                <a16:creationId xmlns:a16="http://schemas.microsoft.com/office/drawing/2014/main" id="{0FCD3399-C787-D0BD-AB29-7D3229A5C25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2" orient="horz" pos="905"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3DBD5AE2-7C3E-E789-AE22-6A4292D287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0064274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7029C228-A98B-B784-A41C-3C84AE53BD4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92506913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5C096F88-73CC-9CCF-DF30-935C70F5CECF}"/>
              </a:ext>
            </a:extLst>
          </p:cNvPr>
          <p:cNvSpPr txBox="1"/>
          <p:nvPr userDrawn="1">
            <p:extLst>
              <p:ext uri="{1162E1C5-73C7-4A58-AE30-91384D911F3F}">
                <p184:classification xmlns:p184="http://schemas.microsoft.com/office/powerpoint/2018/4/main" val="hdr"/>
              </p:ext>
            </p:extLst>
          </p:nvPr>
        </p:nvSpPr>
        <p:spPr>
          <a:xfrm>
            <a:off x="63500" y="63500"/>
            <a:ext cx="371475"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Public</a:t>
            </a:r>
          </a:p>
        </p:txBody>
      </p:sp>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920" r:id="rId1"/>
    <p:sldLayoutId id="2147484926" r:id="rId2"/>
    <p:sldLayoutId id="2147484928" r:id="rId3"/>
    <p:sldLayoutId id="2147484710" r:id="rId4"/>
    <p:sldLayoutId id="2147484240" r:id="rId5"/>
    <p:sldLayoutId id="2147484736" r:id="rId6"/>
    <p:sldLayoutId id="2147484474" r:id="rId7"/>
    <p:sldLayoutId id="2147484639" r:id="rId8"/>
    <p:sldLayoutId id="2147484603" r:id="rId9"/>
    <p:sldLayoutId id="2147484919" r:id="rId10"/>
    <p:sldLayoutId id="2147484751" r:id="rId11"/>
    <p:sldLayoutId id="2147484914" r:id="rId12"/>
    <p:sldLayoutId id="2147484835" r:id="rId13"/>
    <p:sldLayoutId id="2147484929" r:id="rId14"/>
    <p:sldLayoutId id="2147484836" r:id="rId15"/>
    <p:sldLayoutId id="2147484837" r:id="rId16"/>
    <p:sldLayoutId id="2147484838" r:id="rId17"/>
    <p:sldLayoutId id="2147484923" r:id="rId18"/>
    <p:sldLayoutId id="2147484925" r:id="rId19"/>
    <p:sldLayoutId id="2147484839" r:id="rId20"/>
    <p:sldLayoutId id="2147484922" r:id="rId21"/>
    <p:sldLayoutId id="2147484783" r:id="rId22"/>
    <p:sldLayoutId id="2147484784" r:id="rId23"/>
    <p:sldLayoutId id="2147484787" r:id="rId24"/>
    <p:sldLayoutId id="2147484249" r:id="rId25"/>
    <p:sldLayoutId id="2147484932" r:id="rId26"/>
    <p:sldLayoutId id="2147484927" r:id="rId27"/>
    <p:sldLayoutId id="2147484671" r:id="rId28"/>
    <p:sldLayoutId id="2147484585" r:id="rId29"/>
    <p:sldLayoutId id="2147484924" r:id="rId30"/>
    <p:sldLayoutId id="2147484299" r:id="rId3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28.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cursor.com/marketplace/amd" TargetMode="External"/><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07/relationships/media" Target="../media/media1.mp4"/><Relationship Id="rId7" Type="http://schemas.openxmlformats.org/officeDocument/2006/relationships/image" Target="../media/image20.png"/><Relationship Id="rId2" Type="http://schemas.openxmlformats.org/officeDocument/2006/relationships/customXml" Target="../../customXml/item25.xml"/><Relationship Id="rId1" Type="http://schemas.openxmlformats.org/officeDocument/2006/relationships/customXml" Target="../../customXml/item3.xml"/><Relationship Id="rId6" Type="http://schemas.openxmlformats.org/officeDocument/2006/relationships/notesSlide" Target="../notesSlides/notesSlide6.xml"/><Relationship Id="rId5" Type="http://schemas.openxmlformats.org/officeDocument/2006/relationships/slideLayout" Target="../slideLayouts/slideLayout4.xml"/><Relationship Id="rId10" Type="http://schemas.openxmlformats.org/officeDocument/2006/relationships/image" Target="../media/image23.png"/><Relationship Id="rId4" Type="http://schemas.openxmlformats.org/officeDocument/2006/relationships/video" Target="../media/media1.mp4"/><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microsoft.com/office/2007/relationships/media" Target="../media/media2.mp4"/><Relationship Id="rId7" Type="http://schemas.openxmlformats.org/officeDocument/2006/relationships/image" Target="../media/image24.png"/><Relationship Id="rId2" Type="http://schemas.openxmlformats.org/officeDocument/2006/relationships/customXml" Target="../../customXml/item19.xml"/><Relationship Id="rId1" Type="http://schemas.openxmlformats.org/officeDocument/2006/relationships/customXml" Target="../../customXml/item11.xml"/><Relationship Id="rId6" Type="http://schemas.openxmlformats.org/officeDocument/2006/relationships/notesSlide" Target="../notesSlides/notesSlide7.xml"/><Relationship Id="rId5" Type="http://schemas.openxmlformats.org/officeDocument/2006/relationships/slideLayout" Target="../slideLayouts/slideLayout4.xml"/><Relationship Id="rId4" Type="http://schemas.openxmlformats.org/officeDocument/2006/relationships/video" Target="../media/media2.mp4"/></Relationships>
</file>

<file path=ppt/slides/_rels/slide12.xml.rels><?xml version="1.0" encoding="UTF-8" standalone="yes"?>
<Relationships xmlns="http://schemas.openxmlformats.org/package/2006/relationships"><Relationship Id="rId3" Type="http://schemas.microsoft.com/office/2007/relationships/media" Target="../media/media3.mp4"/><Relationship Id="rId7" Type="http://schemas.openxmlformats.org/officeDocument/2006/relationships/image" Target="../media/image25.png"/><Relationship Id="rId2" Type="http://schemas.openxmlformats.org/officeDocument/2006/relationships/customXml" Target="../../customXml/item17.xml"/><Relationship Id="rId1" Type="http://schemas.openxmlformats.org/officeDocument/2006/relationships/customXml" Target="../../customXml/item7.xml"/><Relationship Id="rId6" Type="http://schemas.openxmlformats.org/officeDocument/2006/relationships/notesSlide" Target="../notesSlides/notesSlide8.xml"/><Relationship Id="rId5" Type="http://schemas.openxmlformats.org/officeDocument/2006/relationships/slideLayout" Target="../slideLayouts/slideLayout4.xml"/><Relationship Id="rId4" Type="http://schemas.openxmlformats.org/officeDocument/2006/relationships/video" Target="../media/media3.mp4"/></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12.xml"/><Relationship Id="rId1" Type="http://schemas.openxmlformats.org/officeDocument/2006/relationships/customXml" Target="../../customXml/item24.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4.xml"/><Relationship Id="rId1" Type="http://schemas.openxmlformats.org/officeDocument/2006/relationships/customXml" Target="../../customXml/item20.xml"/><Relationship Id="rId5" Type="http://schemas.openxmlformats.org/officeDocument/2006/relationships/image" Target="../media/image29.png"/><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21.xml"/><Relationship Id="rId1" Type="http://schemas.openxmlformats.org/officeDocument/2006/relationships/customXml" Target="../../customXml/item14.xml"/><Relationship Id="rId5" Type="http://schemas.openxmlformats.org/officeDocument/2006/relationships/image" Target="../media/image30.png"/><Relationship Id="rId4"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18.xml"/><Relationship Id="rId1" Type="http://schemas.openxmlformats.org/officeDocument/2006/relationships/customXml" Target="../../customXml/item8.xml"/><Relationship Id="rId5" Type="http://schemas.openxmlformats.org/officeDocument/2006/relationships/image" Target="../media/image31.png"/><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customXml" Target="../../customXml/item13.xml"/><Relationship Id="rId1" Type="http://schemas.openxmlformats.org/officeDocument/2006/relationships/customXml" Target="../../customXml/item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D4D9CA-F34A-7824-0DAE-1C328DB20EF9}"/>
              </a:ext>
            </a:extLst>
          </p:cNvPr>
          <p:cNvSpPr>
            <a:spLocks noGrp="1"/>
          </p:cNvSpPr>
          <p:nvPr>
            <p:ph type="title"/>
          </p:nvPr>
        </p:nvSpPr>
        <p:spPr>
          <a:xfrm>
            <a:off x="6096000" y="1613223"/>
            <a:ext cx="6244333" cy="1941576"/>
          </a:xfrm>
        </p:spPr>
        <p:txBody>
          <a:bodyPr/>
          <a:lstStyle/>
          <a:p>
            <a:r>
              <a:rPr lang="en-US">
                <a:latin typeface="Calibri" panose="020F0502020204030204" pitchFamily="34" charset="0"/>
                <a:ea typeface="Calibri" panose="020F0502020204030204" pitchFamily="34" charset="0"/>
                <a:cs typeface="Calibri" panose="020F0502020204030204" pitchFamily="34" charset="0"/>
              </a:rPr>
              <a:t>Pytorch Conference 2026</a:t>
            </a:r>
            <a:br>
              <a:rPr lang="en-US">
                <a:latin typeface="Calibri" panose="020F0502020204030204" pitchFamily="34" charset="0"/>
                <a:ea typeface="Calibri" panose="020F0502020204030204" pitchFamily="34" charset="0"/>
                <a:cs typeface="Calibri" panose="020F0502020204030204" pitchFamily="34" charset="0"/>
              </a:rPr>
            </a:br>
            <a:r>
              <a:rPr lang="en-US" sz="3200">
                <a:solidFill>
                  <a:srgbClr val="E97039"/>
                </a:solidFill>
                <a:latin typeface="Calibri" panose="020F0502020204030204" pitchFamily="34" charset="0"/>
                <a:ea typeface="Calibri" panose="020F0502020204030204" pitchFamily="34" charset="0"/>
                <a:cs typeface="Calibri" panose="020F0502020204030204" pitchFamily="34" charset="0"/>
              </a:rPr>
              <a:t>AMD Skills</a:t>
            </a:r>
            <a:endParaRPr lang="en-US">
              <a:solidFill>
                <a:srgbClr val="E97039"/>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 Placeholder 4">
            <a:extLst>
              <a:ext uri="{FF2B5EF4-FFF2-40B4-BE49-F238E27FC236}">
                <a16:creationId xmlns:a16="http://schemas.microsoft.com/office/drawing/2014/main" id="{45B439E4-7F4F-D558-D4BA-B20CC0A9D311}"/>
              </a:ext>
            </a:extLst>
          </p:cNvPr>
          <p:cNvSpPr>
            <a:spLocks noGrp="1"/>
          </p:cNvSpPr>
          <p:nvPr>
            <p:ph type="body" sz="quarter" idx="12"/>
          </p:nvPr>
        </p:nvSpPr>
        <p:spPr>
          <a:xfrm>
            <a:off x="6096001" y="3867337"/>
            <a:ext cx="6244332" cy="276999"/>
          </a:xfrm>
        </p:spPr>
        <p:txBody>
          <a:bodyPr/>
          <a:lstStyle/>
          <a:p>
            <a:r>
              <a:rPr lang="en-US">
                <a:latin typeface="Calibri" panose="020F0502020204030204" pitchFamily="34" charset="0"/>
                <a:ea typeface="Calibri" panose="020F0502020204030204" pitchFamily="34" charset="0"/>
                <a:cs typeface="Calibri" panose="020F0502020204030204" pitchFamily="34" charset="0"/>
              </a:rPr>
              <a:t>Daniel Holanda</a:t>
            </a:r>
          </a:p>
        </p:txBody>
      </p:sp>
    </p:spTree>
    <p:extLst>
      <p:ext uri="{BB962C8B-B14F-4D97-AF65-F5344CB8AC3E}">
        <p14:creationId xmlns:p14="http://schemas.microsoft.com/office/powerpoint/2010/main" val="285906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9DE24-C500-525C-CFBF-FB7513FC5E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0B7610-0B07-579B-786E-855F5CE90C39}"/>
              </a:ext>
            </a:extLst>
          </p:cNvPr>
          <p:cNvSpPr/>
          <p:nvPr/>
        </p:nvSpPr>
        <p:spPr>
          <a:xfrm>
            <a:off x="305" y="0"/>
            <a:ext cx="12191695" cy="6858000"/>
          </a:xfrm>
          <a:prstGeom prst="rect">
            <a:avLst/>
          </a:prstGeom>
          <a:solidFill>
            <a:srgbClr val="101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1A9E936C-4005-1BE6-0BD7-132342D0DE6D}"/>
              </a:ext>
            </a:extLst>
          </p:cNvPr>
          <p:cNvPicPr>
            <a:picLocks noChangeAspect="1"/>
          </p:cNvPicPr>
          <p:nvPr/>
        </p:nvPicPr>
        <p:blipFill>
          <a:blip r:embed="rId3"/>
          <a:stretch>
            <a:fillRect/>
          </a:stretch>
        </p:blipFill>
        <p:spPr>
          <a:xfrm>
            <a:off x="54905" y="1619062"/>
            <a:ext cx="12082190" cy="5173374"/>
          </a:xfrm>
          <a:prstGeom prst="rect">
            <a:avLst/>
          </a:prstGeom>
        </p:spPr>
      </p:pic>
      <p:sp>
        <p:nvSpPr>
          <p:cNvPr id="3" name="Title 3">
            <a:extLst>
              <a:ext uri="{FF2B5EF4-FFF2-40B4-BE49-F238E27FC236}">
                <a16:creationId xmlns:a16="http://schemas.microsoft.com/office/drawing/2014/main" id="{E4D8D2D1-C9A1-3581-6667-5A150EEA73D3}"/>
              </a:ext>
            </a:extLst>
          </p:cNvPr>
          <p:cNvSpPr txBox="1">
            <a:spLocks/>
          </p:cNvSpPr>
          <p:nvPr/>
        </p:nvSpPr>
        <p:spPr>
          <a:xfrm>
            <a:off x="290576" y="754774"/>
            <a:ext cx="5130929" cy="798724"/>
          </a:xfrm>
          <a:prstGeom prst="rect">
            <a:avLst/>
          </a:prstGeom>
        </p:spPr>
        <p:txBody>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sz="2400">
                <a:solidFill>
                  <a:srgbClr val="BC5C2A"/>
                </a:solidFill>
                <a:latin typeface="Aptos" panose="020B0004020202020204" pitchFamily="34" charset="0"/>
              </a:rPr>
              <a:t>github.com/amd/skills</a:t>
            </a:r>
          </a:p>
        </p:txBody>
      </p:sp>
      <p:sp>
        <p:nvSpPr>
          <p:cNvPr id="5" name="Title 3">
            <a:extLst>
              <a:ext uri="{FF2B5EF4-FFF2-40B4-BE49-F238E27FC236}">
                <a16:creationId xmlns:a16="http://schemas.microsoft.com/office/drawing/2014/main" id="{E039B08E-F61E-80AA-902B-1F6E28A36766}"/>
              </a:ext>
            </a:extLst>
          </p:cNvPr>
          <p:cNvSpPr txBox="1">
            <a:spLocks/>
          </p:cNvSpPr>
          <p:nvPr/>
        </p:nvSpPr>
        <p:spPr>
          <a:xfrm>
            <a:off x="290576" y="219121"/>
            <a:ext cx="5130929" cy="798724"/>
          </a:xfrm>
          <a:prstGeom prst="rect">
            <a:avLst/>
          </a:prstGeom>
        </p:spPr>
        <p:txBody>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sz="3600">
                <a:latin typeface="Aptos" panose="020B0004020202020204" pitchFamily="34" charset="0"/>
              </a:rPr>
              <a:t>AMD Skills</a:t>
            </a:r>
          </a:p>
        </p:txBody>
      </p:sp>
      <p:pic>
        <p:nvPicPr>
          <p:cNvPr id="7" name="Picture 6">
            <a:extLst>
              <a:ext uri="{FF2B5EF4-FFF2-40B4-BE49-F238E27FC236}">
                <a16:creationId xmlns:a16="http://schemas.microsoft.com/office/drawing/2014/main" id="{DA879D7F-89E6-B609-860C-11C388D4D421}"/>
              </a:ext>
            </a:extLst>
          </p:cNvPr>
          <p:cNvPicPr>
            <a:picLocks noChangeAspect="1"/>
          </p:cNvPicPr>
          <p:nvPr/>
        </p:nvPicPr>
        <p:blipFill>
          <a:blip r:embed="rId4"/>
          <a:stretch>
            <a:fillRect/>
          </a:stretch>
        </p:blipFill>
        <p:spPr>
          <a:xfrm>
            <a:off x="10491019" y="157317"/>
            <a:ext cx="1553498" cy="1553498"/>
          </a:xfrm>
          <a:prstGeom prst="rect">
            <a:avLst/>
          </a:prstGeom>
        </p:spPr>
      </p:pic>
      <p:pic>
        <p:nvPicPr>
          <p:cNvPr id="9" name="Picture 8">
            <a:extLst>
              <a:ext uri="{FF2B5EF4-FFF2-40B4-BE49-F238E27FC236}">
                <a16:creationId xmlns:a16="http://schemas.microsoft.com/office/drawing/2014/main" id="{98DE6236-269C-8F74-F669-5D01C571A50A}"/>
              </a:ext>
            </a:extLst>
          </p:cNvPr>
          <p:cNvPicPr>
            <a:picLocks noChangeAspect="1"/>
          </p:cNvPicPr>
          <p:nvPr/>
        </p:nvPicPr>
        <p:blipFill>
          <a:blip r:embed="rId5"/>
          <a:stretch>
            <a:fillRect/>
          </a:stretch>
        </p:blipFill>
        <p:spPr>
          <a:xfrm>
            <a:off x="6314280" y="4766931"/>
            <a:ext cx="2667222" cy="365508"/>
          </a:xfrm>
          <a:prstGeom prst="rect">
            <a:avLst/>
          </a:prstGeom>
        </p:spPr>
      </p:pic>
    </p:spTree>
    <p:extLst>
      <p:ext uri="{BB962C8B-B14F-4D97-AF65-F5344CB8AC3E}">
        <p14:creationId xmlns:p14="http://schemas.microsoft.com/office/powerpoint/2010/main" val="275715661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73544-5DB0-B6BD-BC3F-63FF20739E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414B264-1FB5-3F74-C850-355C235CC01D}"/>
              </a:ext>
            </a:extLst>
          </p:cNvPr>
          <p:cNvSpPr>
            <a:spLocks noGrp="1"/>
          </p:cNvSpPr>
          <p:nvPr>
            <p:ph type="title"/>
          </p:nvPr>
        </p:nvSpPr>
        <p:spPr>
          <a:xfrm>
            <a:off x="395464" y="500615"/>
            <a:ext cx="11018520" cy="430887"/>
          </a:xfrm>
        </p:spPr>
        <p:txBody>
          <a:bodyPr/>
          <a:lstStyle/>
          <a:p>
            <a:r>
              <a:rPr lang="en-US">
                <a:latin typeface="Calibri" panose="020F0502020204030204" pitchFamily="34" charset="0"/>
                <a:ea typeface="Calibri" panose="020F0502020204030204" pitchFamily="34" charset="0"/>
                <a:cs typeface="Calibri" panose="020F0502020204030204" pitchFamily="34" charset="0"/>
              </a:rPr>
              <a:t>AMD Skills – Overview</a:t>
            </a:r>
          </a:p>
        </p:txBody>
      </p:sp>
      <p:sp>
        <p:nvSpPr>
          <p:cNvPr id="6" name="Text 0">
            <a:extLst>
              <a:ext uri="{FF2B5EF4-FFF2-40B4-BE49-F238E27FC236}">
                <a16:creationId xmlns:a16="http://schemas.microsoft.com/office/drawing/2014/main" id="{A390C0D6-BFA6-E73A-219D-D2B37C0DB8AE}"/>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pic>
        <p:nvPicPr>
          <p:cNvPr id="3" name="Picture 2">
            <a:extLst>
              <a:ext uri="{FF2B5EF4-FFF2-40B4-BE49-F238E27FC236}">
                <a16:creationId xmlns:a16="http://schemas.microsoft.com/office/drawing/2014/main" id="{3D6EA345-0A31-91C1-62AB-EBC3C1E93AAB}"/>
              </a:ext>
            </a:extLst>
          </p:cNvPr>
          <p:cNvPicPr>
            <a:picLocks noChangeAspect="1"/>
          </p:cNvPicPr>
          <p:nvPr/>
        </p:nvPicPr>
        <p:blipFill>
          <a:blip r:embed="rId3"/>
          <a:stretch>
            <a:fillRect/>
          </a:stretch>
        </p:blipFill>
        <p:spPr>
          <a:xfrm>
            <a:off x="6170913" y="665018"/>
            <a:ext cx="6021087" cy="6192982"/>
          </a:xfrm>
          <a:prstGeom prst="rect">
            <a:avLst/>
          </a:prstGeom>
        </p:spPr>
      </p:pic>
      <p:pic>
        <p:nvPicPr>
          <p:cNvPr id="7" name="Picture 6">
            <a:extLst>
              <a:ext uri="{FF2B5EF4-FFF2-40B4-BE49-F238E27FC236}">
                <a16:creationId xmlns:a16="http://schemas.microsoft.com/office/drawing/2014/main" id="{9059B645-F9BE-B7B0-AC60-735305E98ED1}"/>
              </a:ext>
            </a:extLst>
          </p:cNvPr>
          <p:cNvPicPr>
            <a:picLocks noChangeAspect="1"/>
          </p:cNvPicPr>
          <p:nvPr/>
        </p:nvPicPr>
        <p:blipFill>
          <a:blip r:embed="rId4"/>
          <a:stretch>
            <a:fillRect/>
          </a:stretch>
        </p:blipFill>
        <p:spPr>
          <a:xfrm>
            <a:off x="10441782" y="5200585"/>
            <a:ext cx="1553498" cy="1553498"/>
          </a:xfrm>
          <a:prstGeom prst="rect">
            <a:avLst/>
          </a:prstGeom>
        </p:spPr>
      </p:pic>
      <p:sp>
        <p:nvSpPr>
          <p:cNvPr id="9" name="TextBox 8">
            <a:extLst>
              <a:ext uri="{FF2B5EF4-FFF2-40B4-BE49-F238E27FC236}">
                <a16:creationId xmlns:a16="http://schemas.microsoft.com/office/drawing/2014/main" id="{5E186F9F-26BE-69D8-62A1-59E8385DD33F}"/>
              </a:ext>
            </a:extLst>
          </p:cNvPr>
          <p:cNvSpPr txBox="1"/>
          <p:nvPr/>
        </p:nvSpPr>
        <p:spPr>
          <a:xfrm rot="5400000">
            <a:off x="10367786" y="4703861"/>
            <a:ext cx="2857499" cy="307777"/>
          </a:xfrm>
          <a:prstGeom prst="rect">
            <a:avLst/>
          </a:prstGeom>
          <a:noFill/>
        </p:spPr>
        <p:txBody>
          <a:bodyPr wrap="square">
            <a:spAutoFit/>
          </a:bodyPr>
          <a:lstStyle/>
          <a:p>
            <a:r>
              <a:rPr lang="en-US" sz="1400">
                <a:solidFill>
                  <a:srgbClr val="E97039"/>
                </a:solidFill>
                <a:latin typeface="Consolas" panose="020B0609020204030204" pitchFamily="49" charset="0"/>
                <a:ea typeface="Calibri" panose="020F0502020204030204" pitchFamily="34" charset="0"/>
                <a:cs typeface="Calibri" panose="020F0502020204030204" pitchFamily="34" charset="0"/>
              </a:rPr>
              <a:t>Star the repo -&gt;</a:t>
            </a:r>
            <a:endParaRPr lang="en-US" sz="1050">
              <a:solidFill>
                <a:srgbClr val="E97039"/>
              </a:solidFill>
              <a:latin typeface="Consolas" panose="020B0609020204030204" pitchFamily="49" charset="0"/>
            </a:endParaRPr>
          </a:p>
        </p:txBody>
      </p:sp>
      <p:sp>
        <p:nvSpPr>
          <p:cNvPr id="12" name="TextBox 11">
            <a:extLst>
              <a:ext uri="{FF2B5EF4-FFF2-40B4-BE49-F238E27FC236}">
                <a16:creationId xmlns:a16="http://schemas.microsoft.com/office/drawing/2014/main" id="{8358E530-7DF9-D36F-28DA-7B52CC01BA65}"/>
              </a:ext>
            </a:extLst>
          </p:cNvPr>
          <p:cNvSpPr txBox="1"/>
          <p:nvPr/>
        </p:nvSpPr>
        <p:spPr>
          <a:xfrm>
            <a:off x="395465" y="1609185"/>
            <a:ext cx="5700536" cy="5478423"/>
          </a:xfrm>
          <a:prstGeom prst="rect">
            <a:avLst/>
          </a:prstGeom>
          <a:noFill/>
        </p:spPr>
        <p:txBody>
          <a:bodyPr wrap="square">
            <a:spAutoFit/>
          </a:bodyPr>
          <a:lstStyle/>
          <a:p>
            <a:r>
              <a:rPr lang="en-US" sz="2000" b="1" kern="0" spc="300">
                <a:solidFill>
                  <a:schemeClr val="accent4"/>
                </a:solidFill>
                <a:latin typeface="Calibri"/>
                <a:ea typeface="Calibri"/>
                <a:cs typeface="Calibri"/>
              </a:rPr>
              <a:t>What is it?</a:t>
            </a:r>
            <a:br>
              <a:rPr lang="en-US" sz="1400" b="1" kern="0" spc="300">
                <a:latin typeface="Calibri"/>
                <a:ea typeface="Calibri"/>
                <a:cs typeface="Calibri"/>
              </a:rPr>
            </a:br>
            <a:r>
              <a:rPr lang="en-US" sz="1300" kern="0" spc="300">
                <a:latin typeface="Calibri"/>
                <a:ea typeface="Calibri"/>
                <a:cs typeface="Calibri"/>
              </a:rPr>
              <a:t>Official AMD catalog of AI agent skills</a:t>
            </a:r>
            <a:endParaRPr lang="en-US" sz="2000" kern="0" spc="300">
              <a:solidFill>
                <a:schemeClr val="accent4"/>
              </a:solidFill>
              <a:latin typeface="Calibri"/>
              <a:ea typeface="Calibri"/>
              <a:cs typeface="Calibri"/>
            </a:endParaRPr>
          </a:p>
          <a:p>
            <a:pPr algn="r"/>
            <a:endParaRPr lang="en-US" sz="2000" b="1" kern="0" spc="300">
              <a:solidFill>
                <a:schemeClr val="accent4"/>
              </a:solidFill>
              <a:latin typeface="Calibri"/>
              <a:ea typeface="Calibri"/>
              <a:cs typeface="Calibri"/>
            </a:endParaRPr>
          </a:p>
          <a:p>
            <a:br>
              <a:rPr lang="en-US" sz="2000" b="1" kern="0" spc="300">
                <a:solidFill>
                  <a:schemeClr val="accent4"/>
                </a:solidFill>
                <a:latin typeface="Calibri"/>
                <a:ea typeface="Calibri"/>
                <a:cs typeface="Calibri"/>
              </a:rPr>
            </a:br>
            <a:r>
              <a:rPr lang="en-US" sz="2000" b="1" kern="0" spc="300">
                <a:solidFill>
                  <a:schemeClr val="accent4"/>
                </a:solidFill>
                <a:latin typeface="Calibri"/>
                <a:ea typeface="Calibri"/>
                <a:cs typeface="Calibri"/>
              </a:rPr>
              <a:t>Goal</a:t>
            </a:r>
            <a:br>
              <a:rPr lang="en-US" sz="1300" b="1" kern="0" spc="300">
                <a:latin typeface="Calibri"/>
                <a:ea typeface="Calibri"/>
                <a:cs typeface="Calibri"/>
              </a:rPr>
            </a:br>
            <a:r>
              <a:rPr lang="en-US" sz="1300" kern="0" spc="300">
                <a:latin typeface="Calibri"/>
                <a:ea typeface="Calibri"/>
                <a:cs typeface="Calibri"/>
              </a:rPr>
              <a:t>Make AI agents significantly better </a:t>
            </a:r>
          </a:p>
          <a:p>
            <a:r>
              <a:rPr lang="en-US" sz="1300" kern="0" spc="300">
                <a:latin typeface="Calibri"/>
                <a:ea typeface="Calibri"/>
                <a:cs typeface="Calibri"/>
              </a:rPr>
              <a:t>at assisting users with AMD technology</a:t>
            </a:r>
            <a:br>
              <a:rPr lang="en-US" sz="1300" b="1" kern="0" spc="300">
                <a:latin typeface="Calibri"/>
                <a:ea typeface="Calibri"/>
                <a:cs typeface="Calibri"/>
              </a:rPr>
            </a:br>
            <a:endParaRPr lang="en-US" sz="1300" b="1" kern="0" spc="300">
              <a:latin typeface="Calibri"/>
              <a:ea typeface="Calibri"/>
              <a:cs typeface="Calibri"/>
            </a:endParaRPr>
          </a:p>
          <a:p>
            <a:pPr algn="r"/>
            <a:endParaRPr lang="en-US" sz="1300" b="1" kern="0" spc="300">
              <a:latin typeface="Calibri"/>
              <a:ea typeface="Calibri"/>
              <a:cs typeface="Calibri"/>
            </a:endParaRPr>
          </a:p>
          <a:p>
            <a:pPr algn="r"/>
            <a:br>
              <a:rPr lang="en-US" sz="1300" b="1" kern="0" spc="300">
                <a:latin typeface="Calibri"/>
                <a:ea typeface="Calibri"/>
                <a:cs typeface="Calibri"/>
              </a:rPr>
            </a:br>
            <a:r>
              <a:rPr lang="en-US" sz="2000" b="1" kern="0" spc="300">
                <a:solidFill>
                  <a:schemeClr val="accent4"/>
                </a:solidFill>
                <a:latin typeface="Calibri"/>
                <a:ea typeface="Calibri"/>
                <a:cs typeface="Calibri"/>
              </a:rPr>
              <a:t>How to get access?</a:t>
            </a:r>
            <a:br>
              <a:rPr lang="en-US" sz="1300" b="1" kern="0" spc="300">
                <a:latin typeface="Calibri"/>
                <a:ea typeface="Calibri"/>
                <a:cs typeface="Calibri"/>
              </a:rPr>
            </a:br>
            <a:r>
              <a:rPr lang="en-US" sz="1300" kern="0" spc="300">
                <a:latin typeface="Calibri"/>
                <a:ea typeface="Calibri"/>
                <a:cs typeface="Calibri"/>
              </a:rPr>
              <a:t>Available at </a:t>
            </a:r>
          </a:p>
          <a:p>
            <a:pPr algn="r"/>
            <a:r>
              <a:rPr lang="en-US" sz="1300" kern="0" spc="300">
                <a:solidFill>
                  <a:srgbClr val="E97039"/>
                </a:solidFill>
                <a:latin typeface="Calibri"/>
                <a:ea typeface="Calibri"/>
                <a:cs typeface="Calibri"/>
              </a:rPr>
              <a:t>github.com/amd/skills</a:t>
            </a:r>
          </a:p>
          <a:p>
            <a:endParaRPr lang="en-US" sz="1300" b="1" kern="0" spc="300">
              <a:solidFill>
                <a:srgbClr val="E97039"/>
              </a:solidFill>
              <a:latin typeface="Calibri"/>
              <a:ea typeface="Calibri"/>
              <a:cs typeface="Calibri"/>
            </a:endParaRPr>
          </a:p>
          <a:p>
            <a:pPr algn="r"/>
            <a:endParaRPr lang="en-US" sz="1300" b="1" kern="0" spc="300">
              <a:latin typeface="Calibri"/>
              <a:ea typeface="Calibri"/>
              <a:cs typeface="Calibri"/>
            </a:endParaRPr>
          </a:p>
          <a:p>
            <a:pPr algn="r"/>
            <a:br>
              <a:rPr lang="en-US" sz="1300" b="1" kern="0" spc="300">
                <a:latin typeface="Calibri"/>
                <a:ea typeface="Calibri"/>
                <a:cs typeface="Calibri"/>
              </a:rPr>
            </a:br>
            <a:r>
              <a:rPr lang="en-US" sz="2000" b="1" kern="0" spc="300">
                <a:solidFill>
                  <a:schemeClr val="accent4"/>
                </a:solidFill>
                <a:latin typeface="Calibri"/>
                <a:ea typeface="Calibri"/>
                <a:cs typeface="Calibri"/>
              </a:rPr>
              <a:t>Quick Start</a:t>
            </a:r>
            <a:br>
              <a:rPr lang="en-US" sz="1300" b="1" kern="0" spc="300">
                <a:latin typeface="Calibri"/>
                <a:ea typeface="Calibri"/>
                <a:cs typeface="Calibri"/>
              </a:rPr>
            </a:br>
            <a:r>
              <a:rPr lang="en-US" sz="1300" kern="0" spc="300">
                <a:latin typeface="Calibri"/>
                <a:ea typeface="Calibri"/>
                <a:cs typeface="Calibri"/>
              </a:rPr>
              <a:t>Open a terminal and run </a:t>
            </a:r>
          </a:p>
          <a:p>
            <a:pPr algn="r"/>
            <a:r>
              <a:rPr lang="sv-SE" sz="1300" kern="0" spc="300">
                <a:solidFill>
                  <a:srgbClr val="E97039"/>
                </a:solidFill>
                <a:latin typeface="Calibri"/>
                <a:ea typeface="Calibri"/>
                <a:cs typeface="Calibri"/>
              </a:rPr>
              <a:t>npx skills add amd/skills</a:t>
            </a:r>
            <a:br>
              <a:rPr lang="en-US" sz="1300" b="1" kern="0" spc="300">
                <a:latin typeface="Calibri"/>
                <a:ea typeface="Calibri"/>
                <a:cs typeface="Calibri"/>
              </a:rPr>
            </a:br>
            <a:endParaRPr lang="en-US" sz="1300" b="1" kern="0" spc="300">
              <a:latin typeface="Calibri"/>
              <a:ea typeface="Calibri"/>
              <a:cs typeface="Calibri"/>
            </a:endParaRPr>
          </a:p>
          <a:p>
            <a:pPr algn="ctr"/>
            <a:endParaRPr lang="en-US" sz="1300" b="1" kern="0" spc="300">
              <a:solidFill>
                <a:srgbClr val="FFFFFF"/>
              </a:solidFill>
              <a:latin typeface="Calibri"/>
              <a:ea typeface="Calibri"/>
              <a:cs typeface="Calibri"/>
            </a:endParaRPr>
          </a:p>
          <a:p>
            <a:pPr algn="ctr"/>
            <a:br>
              <a:rPr lang="en-US" sz="1100" b="1" kern="0" spc="300">
                <a:solidFill>
                  <a:srgbClr val="FFFFFF"/>
                </a:solidFill>
                <a:latin typeface="Calibri"/>
                <a:ea typeface="Calibri"/>
                <a:cs typeface="Calibri"/>
              </a:rPr>
            </a:br>
            <a:br>
              <a:rPr lang="en-US" sz="1100" b="1" kern="0" spc="300">
                <a:solidFill>
                  <a:srgbClr val="FFFFFF"/>
                </a:solidFill>
                <a:latin typeface="Calibri"/>
                <a:ea typeface="Calibri"/>
                <a:cs typeface="Calibri"/>
              </a:rPr>
            </a:br>
            <a:endParaRPr lang="en-US" sz="1300" b="1" kern="0" spc="300">
              <a:latin typeface="Calibri"/>
              <a:ea typeface="Calibri"/>
              <a:cs typeface="Calibri"/>
            </a:endParaRPr>
          </a:p>
        </p:txBody>
      </p:sp>
    </p:spTree>
    <p:extLst>
      <p:ext uri="{BB962C8B-B14F-4D97-AF65-F5344CB8AC3E}">
        <p14:creationId xmlns:p14="http://schemas.microsoft.com/office/powerpoint/2010/main" val="111733865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9B0F2-AD6A-BC69-1AF7-F186C2DA389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3D10D52-38E3-FC63-A0FF-46D5932FBD0A}"/>
              </a:ext>
            </a:extLst>
          </p:cNvPr>
          <p:cNvSpPr>
            <a:spLocks noGrp="1"/>
          </p:cNvSpPr>
          <p:nvPr>
            <p:ph type="title"/>
          </p:nvPr>
        </p:nvSpPr>
        <p:spPr>
          <a:xfrm>
            <a:off x="395464" y="500615"/>
            <a:ext cx="11018520" cy="430887"/>
          </a:xfrm>
        </p:spPr>
        <p:txBody>
          <a:bodyPr/>
          <a:lstStyle/>
          <a:p>
            <a:r>
              <a:rPr lang="en-US">
                <a:latin typeface="Calibri" panose="020F0502020204030204" pitchFamily="34" charset="0"/>
                <a:ea typeface="Calibri" panose="020F0502020204030204" pitchFamily="34" charset="0"/>
                <a:cs typeface="Calibri" panose="020F0502020204030204" pitchFamily="34" charset="0"/>
              </a:rPr>
              <a:t>AMD Skills – What is in the catalog?</a:t>
            </a:r>
          </a:p>
        </p:txBody>
      </p:sp>
      <p:sp>
        <p:nvSpPr>
          <p:cNvPr id="6" name="Text 0">
            <a:extLst>
              <a:ext uri="{FF2B5EF4-FFF2-40B4-BE49-F238E27FC236}">
                <a16:creationId xmlns:a16="http://schemas.microsoft.com/office/drawing/2014/main" id="{0629F938-A7A1-BB2A-0DDB-28726895A855}"/>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pic>
        <p:nvPicPr>
          <p:cNvPr id="7" name="Picture 6">
            <a:extLst>
              <a:ext uri="{FF2B5EF4-FFF2-40B4-BE49-F238E27FC236}">
                <a16:creationId xmlns:a16="http://schemas.microsoft.com/office/drawing/2014/main" id="{9D3B7FC8-BD30-FD64-A82D-EF6199CAA3E9}"/>
              </a:ext>
            </a:extLst>
          </p:cNvPr>
          <p:cNvPicPr>
            <a:picLocks noChangeAspect="1"/>
          </p:cNvPicPr>
          <p:nvPr/>
        </p:nvPicPr>
        <p:blipFill>
          <a:blip r:embed="rId3"/>
          <a:stretch>
            <a:fillRect/>
          </a:stretch>
        </p:blipFill>
        <p:spPr>
          <a:xfrm>
            <a:off x="10441782" y="5200585"/>
            <a:ext cx="1553498" cy="1553498"/>
          </a:xfrm>
          <a:prstGeom prst="rect">
            <a:avLst/>
          </a:prstGeom>
        </p:spPr>
      </p:pic>
      <p:sp>
        <p:nvSpPr>
          <p:cNvPr id="12" name="TextBox 11">
            <a:extLst>
              <a:ext uri="{FF2B5EF4-FFF2-40B4-BE49-F238E27FC236}">
                <a16:creationId xmlns:a16="http://schemas.microsoft.com/office/drawing/2014/main" id="{61635728-49A5-CB52-3959-42B573780E82}"/>
              </a:ext>
            </a:extLst>
          </p:cNvPr>
          <p:cNvSpPr txBox="1"/>
          <p:nvPr/>
        </p:nvSpPr>
        <p:spPr>
          <a:xfrm>
            <a:off x="607664" y="1260043"/>
            <a:ext cx="3323484" cy="1738938"/>
          </a:xfrm>
          <a:prstGeom prst="rect">
            <a:avLst/>
          </a:prstGeom>
          <a:noFill/>
        </p:spPr>
        <p:txBody>
          <a:bodyPr wrap="square">
            <a:spAutoFit/>
          </a:bodyPr>
          <a:lstStyle/>
          <a:p>
            <a:r>
              <a:rPr lang="en-US" sz="2000" b="1" kern="0" spc="300">
                <a:solidFill>
                  <a:schemeClr val="accent4"/>
                </a:solidFill>
                <a:latin typeface="Calibri"/>
                <a:ea typeface="Calibri"/>
                <a:cs typeface="Calibri"/>
              </a:rPr>
              <a:t>Server Native Skills</a:t>
            </a:r>
          </a:p>
          <a:p>
            <a:br>
              <a:rPr lang="en-US" sz="1300" b="1" kern="0" spc="300">
                <a:latin typeface="Calibri"/>
                <a:ea typeface="Calibri"/>
                <a:cs typeface="Calibri"/>
              </a:rPr>
            </a:br>
            <a:br>
              <a:rPr lang="en-US" sz="1300" b="1" kern="0" spc="300">
                <a:latin typeface="Calibri"/>
                <a:ea typeface="Calibri"/>
                <a:cs typeface="Calibri"/>
              </a:rPr>
            </a:br>
            <a:endParaRPr lang="en-US" sz="1300" b="1" kern="0" spc="300">
              <a:latin typeface="Calibri"/>
              <a:ea typeface="Calibri"/>
              <a:cs typeface="Calibri"/>
            </a:endParaRPr>
          </a:p>
          <a:p>
            <a:pPr algn="ctr"/>
            <a:endParaRPr lang="en-US" sz="1300" b="1" kern="0" spc="300">
              <a:solidFill>
                <a:srgbClr val="FFFFFF"/>
              </a:solidFill>
              <a:latin typeface="Calibri"/>
              <a:ea typeface="Calibri"/>
              <a:cs typeface="Calibri"/>
            </a:endParaRPr>
          </a:p>
          <a:p>
            <a:pPr algn="ctr"/>
            <a:br>
              <a:rPr lang="en-US" sz="1100" b="1" kern="0" spc="300">
                <a:solidFill>
                  <a:srgbClr val="FFFFFF"/>
                </a:solidFill>
                <a:latin typeface="Calibri"/>
                <a:ea typeface="Calibri"/>
                <a:cs typeface="Calibri"/>
              </a:rPr>
            </a:br>
            <a:br>
              <a:rPr lang="en-US" sz="1100" b="1" kern="0" spc="300">
                <a:solidFill>
                  <a:srgbClr val="FFFFFF"/>
                </a:solidFill>
                <a:latin typeface="Calibri"/>
                <a:ea typeface="Calibri"/>
                <a:cs typeface="Calibri"/>
              </a:rPr>
            </a:br>
            <a:endParaRPr lang="en-US" sz="1300" b="1" kern="0" spc="300">
              <a:latin typeface="Calibri"/>
              <a:ea typeface="Calibri"/>
              <a:cs typeface="Calibri"/>
            </a:endParaRPr>
          </a:p>
        </p:txBody>
      </p:sp>
      <p:graphicFrame>
        <p:nvGraphicFramePr>
          <p:cNvPr id="2" name="Table 1">
            <a:extLst>
              <a:ext uri="{FF2B5EF4-FFF2-40B4-BE49-F238E27FC236}">
                <a16:creationId xmlns:a16="http://schemas.microsoft.com/office/drawing/2014/main" id="{11799BC9-2358-25E9-7ECF-F1DB4A8896E4}"/>
              </a:ext>
            </a:extLst>
          </p:cNvPr>
          <p:cNvGraphicFramePr>
            <a:graphicFrameLocks noGrp="1"/>
          </p:cNvGraphicFramePr>
          <p:nvPr>
            <p:extLst>
              <p:ext uri="{D42A27DB-BD31-4B8C-83A1-F6EECF244321}">
                <p14:modId xmlns:p14="http://schemas.microsoft.com/office/powerpoint/2010/main" val="2658249512"/>
              </p:ext>
            </p:extLst>
          </p:nvPr>
        </p:nvGraphicFramePr>
        <p:xfrm>
          <a:off x="607664" y="4398721"/>
          <a:ext cx="8161867" cy="1483360"/>
        </p:xfrm>
        <a:graphic>
          <a:graphicData uri="http://schemas.openxmlformats.org/drawingml/2006/table">
            <a:tbl>
              <a:tblPr firstRow="1" bandRow="1">
                <a:tableStyleId>{2D5ABB26-0587-4C30-8999-92F81FD0307C}</a:tableStyleId>
              </a:tblPr>
              <a:tblGrid>
                <a:gridCol w="2013513">
                  <a:extLst>
                    <a:ext uri="{9D8B030D-6E8A-4147-A177-3AD203B41FA5}">
                      <a16:colId xmlns:a16="http://schemas.microsoft.com/office/drawing/2014/main" val="1973865276"/>
                    </a:ext>
                  </a:extLst>
                </a:gridCol>
                <a:gridCol w="6148354">
                  <a:extLst>
                    <a:ext uri="{9D8B030D-6E8A-4147-A177-3AD203B41FA5}">
                      <a16:colId xmlns:a16="http://schemas.microsoft.com/office/drawing/2014/main" val="558207359"/>
                    </a:ext>
                  </a:extLst>
                </a:gridCol>
              </a:tblGrid>
              <a:tr h="370840">
                <a:tc>
                  <a:txBody>
                    <a:bodyPr/>
                    <a:lstStyle/>
                    <a:p>
                      <a:pPr algn="l">
                        <a:spcAft>
                          <a:spcPts val="1200"/>
                        </a:spcAft>
                        <a:buNone/>
                      </a:pPr>
                      <a:r>
                        <a:rPr lang="en-US" sz="1020" b="0" i="0" u="none">
                          <a:solidFill>
                            <a:schemeClr val="tx1"/>
                          </a:solidFill>
                          <a:effectLst/>
                          <a:latin typeface="Monaspace Neon"/>
                        </a:rPr>
                        <a:t>Local AI Use</a:t>
                      </a:r>
                      <a:endParaRPr lang="en-US" sz="1200" b="0" i="0" u="none">
                        <a:solidFill>
                          <a:schemeClr val="tx1"/>
                        </a:solidFill>
                        <a:effectLst/>
                        <a:latin typeface="Mona Sans VF"/>
                      </a:endParaRPr>
                    </a:p>
                  </a:txBody>
                  <a:tcPr marL="123825" marR="123825" marT="57150" marB="57150" anchor="ctr"/>
                </a:tc>
                <a:tc>
                  <a:txBody>
                    <a:bodyPr/>
                    <a:lstStyle/>
                    <a:p>
                      <a:pPr algn="l">
                        <a:spcAft>
                          <a:spcPts val="1200"/>
                        </a:spcAft>
                        <a:buNone/>
                      </a:pPr>
                      <a:r>
                        <a:rPr lang="en-US" sz="1200" b="0" i="0">
                          <a:solidFill>
                            <a:srgbClr val="F0F6FC"/>
                          </a:solidFill>
                          <a:effectLst/>
                          <a:latin typeface="Mona Sans VF"/>
                        </a:rPr>
                        <a:t>Route image generation, TTS, and STT through a local AI  server.</a:t>
                      </a:r>
                    </a:p>
                  </a:txBody>
                  <a:tcPr marL="123825" marR="123825" marT="57150" marB="57150" anchor="ctr"/>
                </a:tc>
                <a:extLst>
                  <a:ext uri="{0D108BD9-81ED-4DB2-BD59-A6C34878D82A}">
                    <a16:rowId xmlns:a16="http://schemas.microsoft.com/office/drawing/2014/main" val="953427058"/>
                  </a:ext>
                </a:extLst>
              </a:tr>
              <a:tr h="370840">
                <a:tc>
                  <a:txBody>
                    <a:bodyPr/>
                    <a:lstStyle/>
                    <a:p>
                      <a:pPr algn="l">
                        <a:spcAft>
                          <a:spcPts val="1200"/>
                        </a:spcAft>
                        <a:buNone/>
                      </a:pPr>
                      <a:r>
                        <a:rPr lang="en-US" sz="1020" b="0" i="0" u="none">
                          <a:solidFill>
                            <a:schemeClr val="tx1"/>
                          </a:solidFill>
                          <a:effectLst/>
                          <a:latin typeface="Monaspace Neon"/>
                        </a:rPr>
                        <a:t>Local AI App Integration</a:t>
                      </a:r>
                      <a:endParaRPr lang="en-US" sz="1200" b="0" i="0" u="none">
                        <a:solidFill>
                          <a:schemeClr val="tx1"/>
                        </a:solidFill>
                        <a:effectLst/>
                        <a:latin typeface="Mona Sans VF"/>
                      </a:endParaRPr>
                    </a:p>
                  </a:txBody>
                  <a:tcPr marL="123825" marR="123825" marT="57150" marB="57150" anchor="ctr"/>
                </a:tc>
                <a:tc>
                  <a:txBody>
                    <a:bodyPr/>
                    <a:lstStyle/>
                    <a:p>
                      <a:pPr algn="l">
                        <a:spcAft>
                          <a:spcPts val="1200"/>
                        </a:spcAft>
                        <a:buNone/>
                      </a:pPr>
                      <a:r>
                        <a:rPr lang="en-US" sz="1200" b="0" i="0">
                          <a:solidFill>
                            <a:srgbClr val="F0F6FC"/>
                          </a:solidFill>
                          <a:effectLst/>
                          <a:latin typeface="Mona Sans VF"/>
                        </a:rPr>
                        <a:t>Integrate local AI into your own LLM app.</a:t>
                      </a:r>
                    </a:p>
                  </a:txBody>
                  <a:tcPr marL="123825" marR="123825" marT="57150" marB="57150" anchor="ctr"/>
                </a:tc>
                <a:extLst>
                  <a:ext uri="{0D108BD9-81ED-4DB2-BD59-A6C34878D82A}">
                    <a16:rowId xmlns:a16="http://schemas.microsoft.com/office/drawing/2014/main" val="776972081"/>
                  </a:ext>
                </a:extLst>
              </a:tr>
              <a:tr h="370840">
                <a:tc>
                  <a:txBody>
                    <a:bodyPr/>
                    <a:lstStyle/>
                    <a:p>
                      <a:pPr algn="l">
                        <a:spcAft>
                          <a:spcPts val="1200"/>
                        </a:spcAft>
                        <a:buNone/>
                      </a:pPr>
                      <a:r>
                        <a:rPr lang="en-US" sz="1020" b="0" i="0" u="none">
                          <a:solidFill>
                            <a:schemeClr val="tx1"/>
                          </a:solidFill>
                          <a:effectLst/>
                          <a:latin typeface="Monaspace Neon"/>
                        </a:rPr>
                        <a:t>Lemonade Router Builder</a:t>
                      </a:r>
                      <a:endParaRPr lang="en-US" sz="1200" b="0" i="0" u="none">
                        <a:solidFill>
                          <a:schemeClr val="tx1"/>
                        </a:solidFill>
                        <a:effectLst/>
                        <a:latin typeface="Mona Sans VF"/>
                      </a:endParaRPr>
                    </a:p>
                  </a:txBody>
                  <a:tcPr marL="123825" marR="123825" marT="57150" marB="57150" anchor="ctr"/>
                </a:tc>
                <a:tc>
                  <a:txBody>
                    <a:bodyPr/>
                    <a:lstStyle/>
                    <a:p>
                      <a:pPr algn="l">
                        <a:spcAft>
                          <a:spcPts val="1200"/>
                        </a:spcAft>
                        <a:buNone/>
                      </a:pPr>
                      <a:r>
                        <a:rPr lang="en-US" sz="1200" b="0" i="0">
                          <a:solidFill>
                            <a:srgbClr val="F0F6FC"/>
                          </a:solidFill>
                          <a:effectLst/>
                          <a:latin typeface="Mona Sans VF"/>
                        </a:rPr>
                        <a:t>Route LLM calls based on content, sensitivity, or required capabilities.</a:t>
                      </a:r>
                    </a:p>
                  </a:txBody>
                  <a:tcPr marL="123825" marR="123825" marT="57150" marB="57150" anchor="ctr"/>
                </a:tc>
                <a:extLst>
                  <a:ext uri="{0D108BD9-81ED-4DB2-BD59-A6C34878D82A}">
                    <a16:rowId xmlns:a16="http://schemas.microsoft.com/office/drawing/2014/main" val="1325249707"/>
                  </a:ext>
                </a:extLst>
              </a:tr>
              <a:tr h="370840">
                <a:tc>
                  <a:txBody>
                    <a:bodyPr/>
                    <a:lstStyle/>
                    <a:p>
                      <a:pPr algn="l">
                        <a:spcAft>
                          <a:spcPts val="1200"/>
                        </a:spcAft>
                        <a:buNone/>
                      </a:pPr>
                      <a:r>
                        <a:rPr lang="en-US" sz="1020" b="0" i="0">
                          <a:solidFill>
                            <a:srgbClr val="F0F6FC"/>
                          </a:solidFill>
                          <a:effectLst/>
                          <a:latin typeface="Mona Sans VF"/>
                        </a:rPr>
                        <a:t>ROCm Doctor</a:t>
                      </a:r>
                    </a:p>
                  </a:txBody>
                  <a:tcPr marL="123825" marR="123825" marT="57150" marB="57150" anchor="ctr"/>
                </a:tc>
                <a:tc>
                  <a:txBody>
                    <a:bodyPr/>
                    <a:lstStyle/>
                    <a:p>
                      <a:pPr algn="l">
                        <a:spcAft>
                          <a:spcPts val="1200"/>
                        </a:spcAft>
                        <a:buNone/>
                      </a:pPr>
                      <a:r>
                        <a:rPr lang="en-US" sz="1200" b="0" i="0">
                          <a:solidFill>
                            <a:srgbClr val="F0F6FC"/>
                          </a:solidFill>
                          <a:effectLst/>
                          <a:latin typeface="Mona Sans VF"/>
                        </a:rPr>
                        <a:t>Diagnose and fix common ROCm, HIP, PyTorch, and llama.cpp failures on AMD GPUs.</a:t>
                      </a:r>
                    </a:p>
                  </a:txBody>
                  <a:tcPr marL="123825" marR="123825" marT="57150" marB="57150" anchor="ctr"/>
                </a:tc>
                <a:extLst>
                  <a:ext uri="{0D108BD9-81ED-4DB2-BD59-A6C34878D82A}">
                    <a16:rowId xmlns:a16="http://schemas.microsoft.com/office/drawing/2014/main" val="2074554874"/>
                  </a:ext>
                </a:extLst>
              </a:tr>
            </a:tbl>
          </a:graphicData>
        </a:graphic>
      </p:graphicFrame>
      <p:graphicFrame>
        <p:nvGraphicFramePr>
          <p:cNvPr id="11" name="Table 10">
            <a:extLst>
              <a:ext uri="{FF2B5EF4-FFF2-40B4-BE49-F238E27FC236}">
                <a16:creationId xmlns:a16="http://schemas.microsoft.com/office/drawing/2014/main" id="{F8C11A39-E1C0-EF24-E541-C06FC9688306}"/>
              </a:ext>
            </a:extLst>
          </p:cNvPr>
          <p:cNvGraphicFramePr>
            <a:graphicFrameLocks noGrp="1"/>
          </p:cNvGraphicFramePr>
          <p:nvPr>
            <p:extLst>
              <p:ext uri="{D42A27DB-BD31-4B8C-83A1-F6EECF244321}">
                <p14:modId xmlns:p14="http://schemas.microsoft.com/office/powerpoint/2010/main" val="2050850345"/>
              </p:ext>
            </p:extLst>
          </p:nvPr>
        </p:nvGraphicFramePr>
        <p:xfrm>
          <a:off x="607664" y="1673651"/>
          <a:ext cx="8320262" cy="2225040"/>
        </p:xfrm>
        <a:graphic>
          <a:graphicData uri="http://schemas.openxmlformats.org/drawingml/2006/table">
            <a:tbl>
              <a:tblPr firstRow="1" bandRow="1">
                <a:tableStyleId>{2D5ABB26-0587-4C30-8999-92F81FD0307C}</a:tableStyleId>
              </a:tblPr>
              <a:tblGrid>
                <a:gridCol w="2305572">
                  <a:extLst>
                    <a:ext uri="{9D8B030D-6E8A-4147-A177-3AD203B41FA5}">
                      <a16:colId xmlns:a16="http://schemas.microsoft.com/office/drawing/2014/main" val="1973865276"/>
                    </a:ext>
                  </a:extLst>
                </a:gridCol>
                <a:gridCol w="6014690">
                  <a:extLst>
                    <a:ext uri="{9D8B030D-6E8A-4147-A177-3AD203B41FA5}">
                      <a16:colId xmlns:a16="http://schemas.microsoft.com/office/drawing/2014/main" val="558207359"/>
                    </a:ext>
                  </a:extLst>
                </a:gridCol>
              </a:tblGrid>
              <a:tr h="370840">
                <a:tc>
                  <a:txBody>
                    <a:bodyPr/>
                    <a:lstStyle/>
                    <a:p>
                      <a:pPr algn="l">
                        <a:spcAft>
                          <a:spcPts val="1200"/>
                        </a:spcAft>
                        <a:buNone/>
                      </a:pPr>
                      <a:r>
                        <a:rPr lang="en-US" sz="1020" b="0" i="0" u="none">
                          <a:solidFill>
                            <a:schemeClr val="tx1"/>
                          </a:solidFill>
                          <a:effectLst/>
                          <a:latin typeface="Monaspace Neon"/>
                        </a:rPr>
                        <a:t>vLLM Serving</a:t>
                      </a:r>
                      <a:endParaRPr lang="en-US" sz="1020" b="0" i="0" u="none">
                        <a:solidFill>
                          <a:schemeClr val="tx1"/>
                        </a:solidFill>
                        <a:effectLst/>
                        <a:latin typeface="Mona Sans VF"/>
                      </a:endParaRPr>
                    </a:p>
                  </a:txBody>
                  <a:tcPr marL="123825" marR="123825" marT="57150" marB="57150" anchor="ctr"/>
                </a:tc>
                <a:tc>
                  <a:txBody>
                    <a:bodyPr/>
                    <a:lstStyle/>
                    <a:p>
                      <a:pPr algn="l">
                        <a:spcAft>
                          <a:spcPts val="1200"/>
                        </a:spcAft>
                        <a:buNone/>
                      </a:pPr>
                      <a:r>
                        <a:rPr lang="en-US" sz="1200" b="0" i="0">
                          <a:solidFill>
                            <a:srgbClr val="F0F6FC"/>
                          </a:solidFill>
                          <a:effectLst/>
                          <a:latin typeface="Mona Sans VF"/>
                        </a:rPr>
                        <a:t>Deploy LLM inference on AMD Instinct GPUs and EPYC CPUs</a:t>
                      </a:r>
                    </a:p>
                  </a:txBody>
                  <a:tcPr marL="123825" marR="123825" marT="57150" marB="57150" anchor="ctr"/>
                </a:tc>
                <a:extLst>
                  <a:ext uri="{0D108BD9-81ED-4DB2-BD59-A6C34878D82A}">
                    <a16:rowId xmlns:a16="http://schemas.microsoft.com/office/drawing/2014/main" val="953427058"/>
                  </a:ext>
                </a:extLst>
              </a:tr>
              <a:tr h="370840">
                <a:tc>
                  <a:txBody>
                    <a:bodyPr/>
                    <a:lstStyle/>
                    <a:p>
                      <a:pPr algn="l">
                        <a:spcAft>
                          <a:spcPts val="1200"/>
                        </a:spcAft>
                        <a:buNone/>
                      </a:pPr>
                      <a:r>
                        <a:rPr lang="en-US" sz="1020" b="0" i="0" u="none">
                          <a:solidFill>
                            <a:schemeClr val="tx1"/>
                          </a:solidFill>
                          <a:effectLst/>
                          <a:latin typeface="Monaspace Neon"/>
                        </a:rPr>
                        <a:t>Hyperloom</a:t>
                      </a:r>
                      <a:endParaRPr lang="en-US" sz="1020" b="0" i="0" u="none">
                        <a:solidFill>
                          <a:schemeClr val="tx1"/>
                        </a:solidFill>
                        <a:effectLst/>
                        <a:latin typeface="Mona Sans VF"/>
                      </a:endParaRPr>
                    </a:p>
                  </a:txBody>
                  <a:tcPr marL="123825" marR="123825" marT="57150" marB="57150" anchor="ctr"/>
                </a:tc>
                <a:tc>
                  <a:txBody>
                    <a:bodyPr/>
                    <a:lstStyle/>
                    <a:p>
                      <a:pPr algn="l">
                        <a:spcAft>
                          <a:spcPts val="1200"/>
                        </a:spcAft>
                        <a:buNone/>
                      </a:pPr>
                      <a:r>
                        <a:rPr lang="en-US" sz="1200" b="0" i="0">
                          <a:solidFill>
                            <a:srgbClr val="F0F6FC"/>
                          </a:solidFill>
                          <a:effectLst/>
                          <a:latin typeface="Mona Sans VF"/>
                        </a:rPr>
                        <a:t>Autonomously optimizes end-to-end LLM inference on AMD Instinct GPUs</a:t>
                      </a:r>
                    </a:p>
                  </a:txBody>
                  <a:tcPr marL="123825" marR="123825" marT="57150" marB="57150" anchor="ctr"/>
                </a:tc>
                <a:extLst>
                  <a:ext uri="{0D108BD9-81ED-4DB2-BD59-A6C34878D82A}">
                    <a16:rowId xmlns:a16="http://schemas.microsoft.com/office/drawing/2014/main" val="1325249707"/>
                  </a:ext>
                </a:extLst>
              </a:tr>
              <a:tr h="370840">
                <a:tc>
                  <a:txBody>
                    <a:bodyPr/>
                    <a:lstStyle/>
                    <a:p>
                      <a:pPr algn="l">
                        <a:spcAft>
                          <a:spcPts val="1200"/>
                        </a:spcAft>
                        <a:buNone/>
                      </a:pPr>
                      <a:r>
                        <a:rPr lang="en-US" sz="1020" b="0" i="0" u="none" err="1">
                          <a:solidFill>
                            <a:schemeClr val="tx1"/>
                          </a:solidFill>
                          <a:effectLst/>
                          <a:latin typeface="Monaspace Neon"/>
                        </a:rPr>
                        <a:t>MagPie</a:t>
                      </a:r>
                      <a:endParaRPr lang="en-US" sz="1020" b="0" i="0" u="none">
                        <a:solidFill>
                          <a:schemeClr val="tx1"/>
                        </a:solidFill>
                        <a:effectLst/>
                        <a:latin typeface="Mona Sans VF"/>
                      </a:endParaRPr>
                    </a:p>
                  </a:txBody>
                  <a:tcPr marL="123825" marR="123825" marT="57150" marB="57150" anchor="ctr"/>
                </a:tc>
                <a:tc>
                  <a:txBody>
                    <a:bodyPr/>
                    <a:lstStyle/>
                    <a:p>
                      <a:pPr algn="l">
                        <a:spcAft>
                          <a:spcPts val="1200"/>
                        </a:spcAft>
                        <a:buNone/>
                      </a:pPr>
                      <a:r>
                        <a:rPr lang="en-US" sz="1200" b="0" i="0">
                          <a:solidFill>
                            <a:srgbClr val="F0F6FC"/>
                          </a:solidFill>
                          <a:effectLst/>
                          <a:latin typeface="Mona Sans VF"/>
                        </a:rPr>
                        <a:t>Benchmark vLLM/SGLang inference and evaluate GPU kernels</a:t>
                      </a:r>
                    </a:p>
                  </a:txBody>
                  <a:tcPr marL="123825" marR="123825" marT="57150" marB="57150" anchor="ctr"/>
                </a:tc>
                <a:extLst>
                  <a:ext uri="{0D108BD9-81ED-4DB2-BD59-A6C34878D82A}">
                    <a16:rowId xmlns:a16="http://schemas.microsoft.com/office/drawing/2014/main" val="3337461932"/>
                  </a:ext>
                </a:extLst>
              </a:tr>
              <a:tr h="370840">
                <a:tc>
                  <a:txBody>
                    <a:bodyPr/>
                    <a:lstStyle/>
                    <a:p>
                      <a:pPr algn="l">
                        <a:spcAft>
                          <a:spcPts val="1200"/>
                        </a:spcAft>
                        <a:buNone/>
                      </a:pPr>
                      <a:r>
                        <a:rPr lang="en-US" sz="1020" b="0" i="0" u="none">
                          <a:solidFill>
                            <a:schemeClr val="tx1"/>
                          </a:solidFill>
                          <a:effectLst/>
                          <a:latin typeface="Monaspace Neon"/>
                        </a:rPr>
                        <a:t>Tracelens</a:t>
                      </a:r>
                      <a:endParaRPr lang="en-US" sz="1020" b="0" i="0" u="none">
                        <a:solidFill>
                          <a:schemeClr val="tx1"/>
                        </a:solidFill>
                        <a:effectLst/>
                        <a:latin typeface="Mona Sans VF"/>
                      </a:endParaRPr>
                    </a:p>
                  </a:txBody>
                  <a:tcPr marL="123825" marR="123825" marT="57150" marB="57150" anchor="ctr"/>
                </a:tc>
                <a:tc>
                  <a:txBody>
                    <a:bodyPr/>
                    <a:lstStyle/>
                    <a:p>
                      <a:pPr algn="l">
                        <a:spcAft>
                          <a:spcPts val="1200"/>
                        </a:spcAft>
                        <a:buNone/>
                      </a:pPr>
                      <a:r>
                        <a:rPr lang="en-US" sz="1200" b="0" i="0">
                          <a:solidFill>
                            <a:srgbClr val="F0F6FC"/>
                          </a:solidFill>
                          <a:effectLst/>
                          <a:latin typeface="Mona Sans VF"/>
                        </a:rPr>
                        <a:t>Turn PyTorch profiler traces into a prioritized performance report</a:t>
                      </a:r>
                    </a:p>
                  </a:txBody>
                  <a:tcPr marL="123825" marR="123825" marT="57150" marB="57150" anchor="ctr"/>
                </a:tc>
                <a:extLst>
                  <a:ext uri="{0D108BD9-81ED-4DB2-BD59-A6C34878D82A}">
                    <a16:rowId xmlns:a16="http://schemas.microsoft.com/office/drawing/2014/main" val="3256156154"/>
                  </a:ext>
                </a:extLst>
              </a:tr>
              <a:tr h="370840">
                <a:tc>
                  <a:txBody>
                    <a:bodyPr/>
                    <a:lstStyle/>
                    <a:p>
                      <a:pPr algn="l">
                        <a:spcAft>
                          <a:spcPts val="1200"/>
                        </a:spcAft>
                        <a:buNone/>
                      </a:pPr>
                      <a:r>
                        <a:rPr lang="en-US" sz="1020" b="0" i="0" u="none">
                          <a:solidFill>
                            <a:schemeClr val="tx1"/>
                          </a:solidFill>
                          <a:effectLst/>
                          <a:latin typeface="Mona Sans VF"/>
                        </a:rPr>
                        <a:t>Quark</a:t>
                      </a:r>
                    </a:p>
                  </a:txBody>
                  <a:tcPr marL="123825" marR="123825" marT="57150" marB="57150" anchor="ctr"/>
                </a:tc>
                <a:tc>
                  <a:txBody>
                    <a:bodyPr/>
                    <a:lstStyle/>
                    <a:p>
                      <a:pPr algn="l">
                        <a:spcAft>
                          <a:spcPts val="1200"/>
                        </a:spcAft>
                        <a:buNone/>
                      </a:pPr>
                      <a:r>
                        <a:rPr lang="en-US" sz="1200" b="0" i="0">
                          <a:solidFill>
                            <a:srgbClr val="F0F6FC"/>
                          </a:solidFill>
                          <a:effectLst/>
                          <a:latin typeface="Mona Sans VF"/>
                        </a:rPr>
                        <a:t>Quantize LLMs with AMD Quark post-training quantization</a:t>
                      </a:r>
                    </a:p>
                  </a:txBody>
                  <a:tcPr marL="123825" marR="123825" marT="57150" marB="57150" anchor="ctr"/>
                </a:tc>
                <a:extLst>
                  <a:ext uri="{0D108BD9-81ED-4DB2-BD59-A6C34878D82A}">
                    <a16:rowId xmlns:a16="http://schemas.microsoft.com/office/drawing/2014/main" val="3774692612"/>
                  </a:ext>
                </a:extLst>
              </a:tr>
              <a:tr h="370840">
                <a:tc>
                  <a:txBody>
                    <a:bodyPr/>
                    <a:lstStyle/>
                    <a:p>
                      <a:pPr algn="l">
                        <a:spcAft>
                          <a:spcPts val="1200"/>
                        </a:spcAft>
                        <a:buNone/>
                      </a:pPr>
                      <a:endParaRPr lang="en-US" sz="1020" b="0" i="0">
                        <a:solidFill>
                          <a:srgbClr val="F0F6FC"/>
                        </a:solidFill>
                        <a:effectLst/>
                        <a:latin typeface="Mona Sans VF"/>
                      </a:endParaRPr>
                    </a:p>
                  </a:txBody>
                  <a:tcPr marL="123825" marR="123825" marT="57150" marB="57150" anchor="ctr"/>
                </a:tc>
                <a:tc>
                  <a:txBody>
                    <a:bodyPr/>
                    <a:lstStyle/>
                    <a:p>
                      <a:pPr algn="l">
                        <a:spcAft>
                          <a:spcPts val="1200"/>
                        </a:spcAft>
                        <a:buNone/>
                      </a:pPr>
                      <a:endParaRPr lang="en-US" sz="1200" b="0" i="0">
                        <a:solidFill>
                          <a:srgbClr val="F0F6FC"/>
                        </a:solidFill>
                        <a:effectLst/>
                        <a:latin typeface="Mona Sans VF"/>
                      </a:endParaRPr>
                    </a:p>
                  </a:txBody>
                  <a:tcPr marL="123825" marR="123825" marT="57150" marB="57150" anchor="ctr"/>
                </a:tc>
                <a:extLst>
                  <a:ext uri="{0D108BD9-81ED-4DB2-BD59-A6C34878D82A}">
                    <a16:rowId xmlns:a16="http://schemas.microsoft.com/office/drawing/2014/main" val="2489699616"/>
                  </a:ext>
                </a:extLst>
              </a:tr>
            </a:tbl>
          </a:graphicData>
        </a:graphic>
      </p:graphicFrame>
      <p:sp>
        <p:nvSpPr>
          <p:cNvPr id="14" name="TextBox 13">
            <a:extLst>
              <a:ext uri="{FF2B5EF4-FFF2-40B4-BE49-F238E27FC236}">
                <a16:creationId xmlns:a16="http://schemas.microsoft.com/office/drawing/2014/main" id="{773111CD-E6BE-20B8-1EC4-36EFA6F85510}"/>
              </a:ext>
            </a:extLst>
          </p:cNvPr>
          <p:cNvSpPr txBox="1"/>
          <p:nvPr/>
        </p:nvSpPr>
        <p:spPr>
          <a:xfrm>
            <a:off x="607664" y="3986317"/>
            <a:ext cx="5488336" cy="1738938"/>
          </a:xfrm>
          <a:prstGeom prst="rect">
            <a:avLst/>
          </a:prstGeom>
          <a:noFill/>
        </p:spPr>
        <p:txBody>
          <a:bodyPr wrap="square">
            <a:spAutoFit/>
          </a:bodyPr>
          <a:lstStyle/>
          <a:p>
            <a:r>
              <a:rPr lang="en-US" sz="2000" b="1" kern="0" spc="300">
                <a:solidFill>
                  <a:schemeClr val="accent4"/>
                </a:solidFill>
                <a:latin typeface="Calibri"/>
                <a:ea typeface="Calibri"/>
                <a:cs typeface="Calibri"/>
              </a:rPr>
              <a:t>Client Native and Cross-Stack Skills</a:t>
            </a:r>
          </a:p>
          <a:p>
            <a:br>
              <a:rPr lang="en-US" sz="1300" b="1" kern="0" spc="300">
                <a:latin typeface="Calibri"/>
                <a:ea typeface="Calibri"/>
                <a:cs typeface="Calibri"/>
              </a:rPr>
            </a:br>
            <a:br>
              <a:rPr lang="en-US" sz="1300" b="1" kern="0" spc="300">
                <a:latin typeface="Calibri"/>
                <a:ea typeface="Calibri"/>
                <a:cs typeface="Calibri"/>
              </a:rPr>
            </a:br>
            <a:endParaRPr lang="en-US" sz="1300" b="1" kern="0" spc="300">
              <a:latin typeface="Calibri"/>
              <a:ea typeface="Calibri"/>
              <a:cs typeface="Calibri"/>
            </a:endParaRPr>
          </a:p>
          <a:p>
            <a:pPr algn="ctr"/>
            <a:endParaRPr lang="en-US" sz="1300" b="1" kern="0" spc="300">
              <a:solidFill>
                <a:srgbClr val="FFFFFF"/>
              </a:solidFill>
              <a:latin typeface="Calibri"/>
              <a:ea typeface="Calibri"/>
              <a:cs typeface="Calibri"/>
            </a:endParaRPr>
          </a:p>
          <a:p>
            <a:pPr algn="ctr"/>
            <a:br>
              <a:rPr lang="en-US" sz="1100" b="1" kern="0" spc="300">
                <a:solidFill>
                  <a:srgbClr val="FFFFFF"/>
                </a:solidFill>
                <a:latin typeface="Calibri"/>
                <a:ea typeface="Calibri"/>
                <a:cs typeface="Calibri"/>
              </a:rPr>
            </a:br>
            <a:br>
              <a:rPr lang="en-US" sz="1100" b="1" kern="0" spc="300">
                <a:solidFill>
                  <a:srgbClr val="FFFFFF"/>
                </a:solidFill>
                <a:latin typeface="Calibri"/>
                <a:ea typeface="Calibri"/>
                <a:cs typeface="Calibri"/>
              </a:rPr>
            </a:br>
            <a:endParaRPr lang="en-US" sz="1300" b="1" kern="0" spc="300">
              <a:latin typeface="Calibri"/>
              <a:ea typeface="Calibri"/>
              <a:cs typeface="Calibri"/>
            </a:endParaRPr>
          </a:p>
        </p:txBody>
      </p:sp>
      <p:pic>
        <p:nvPicPr>
          <p:cNvPr id="16" name="Picture 15" descr="New Icon, Updated Logo, Stylish Sign, Unique Badge, Modern Symbol PNG">
            <a:extLst>
              <a:ext uri="{FF2B5EF4-FFF2-40B4-BE49-F238E27FC236}">
                <a16:creationId xmlns:a16="http://schemas.microsoft.com/office/drawing/2014/main" id="{6D882D06-6111-1B0E-B06E-8D69BD7553ED}"/>
              </a:ext>
            </a:extLst>
          </p:cNvPr>
          <p:cNvPicPr>
            <a:picLocks noChangeAspect="1"/>
          </p:cNvPicPr>
          <p:nvPr/>
        </p:nvPicPr>
        <p:blipFill>
          <a:blip r:embed="rId4">
            <a:duotone>
              <a:prstClr val="black"/>
              <a:srgbClr val="00B050">
                <a:tint val="45000"/>
                <a:satMod val="400000"/>
              </a:srgbClr>
            </a:duotone>
          </a:blip>
          <a:stretch>
            <a:fillRect/>
          </a:stretch>
        </p:blipFill>
        <p:spPr>
          <a:xfrm>
            <a:off x="7113481" y="4954981"/>
            <a:ext cx="770274" cy="770274"/>
          </a:xfrm>
          <a:prstGeom prst="rect">
            <a:avLst/>
          </a:prstGeom>
        </p:spPr>
      </p:pic>
      <p:pic>
        <p:nvPicPr>
          <p:cNvPr id="20" name="Picture 19" descr="New Icon, Updated Logo, Stylish Sign, Unique Badge, Modern Symbol PNG">
            <a:extLst>
              <a:ext uri="{FF2B5EF4-FFF2-40B4-BE49-F238E27FC236}">
                <a16:creationId xmlns:a16="http://schemas.microsoft.com/office/drawing/2014/main" id="{766BBDE7-EC52-1807-7CA7-E032B5358942}"/>
              </a:ext>
            </a:extLst>
          </p:cNvPr>
          <p:cNvPicPr>
            <a:picLocks noChangeAspect="1"/>
          </p:cNvPicPr>
          <p:nvPr/>
        </p:nvPicPr>
        <p:blipFill>
          <a:blip r:embed="rId4">
            <a:duotone>
              <a:prstClr val="black"/>
              <a:srgbClr val="00B050">
                <a:tint val="45000"/>
                <a:satMod val="400000"/>
              </a:srgbClr>
            </a:duotone>
          </a:blip>
          <a:stretch>
            <a:fillRect/>
          </a:stretch>
        </p:blipFill>
        <p:spPr>
          <a:xfrm>
            <a:off x="6821160" y="2965180"/>
            <a:ext cx="770274" cy="770274"/>
          </a:xfrm>
          <a:prstGeom prst="rect">
            <a:avLst/>
          </a:prstGeom>
        </p:spPr>
      </p:pic>
      <p:sp>
        <p:nvSpPr>
          <p:cNvPr id="22" name="TextBox 21">
            <a:extLst>
              <a:ext uri="{FF2B5EF4-FFF2-40B4-BE49-F238E27FC236}">
                <a16:creationId xmlns:a16="http://schemas.microsoft.com/office/drawing/2014/main" id="{74602F12-DAA1-F150-6068-EAD83FCEFE6D}"/>
              </a:ext>
            </a:extLst>
          </p:cNvPr>
          <p:cNvSpPr txBox="1"/>
          <p:nvPr/>
        </p:nvSpPr>
        <p:spPr>
          <a:xfrm>
            <a:off x="8927926" y="4634451"/>
            <a:ext cx="3067354" cy="461665"/>
          </a:xfrm>
          <a:prstGeom prst="rect">
            <a:avLst/>
          </a:prstGeom>
          <a:noFill/>
        </p:spPr>
        <p:txBody>
          <a:bodyPr wrap="square">
            <a:spAutoFit/>
          </a:bodyPr>
          <a:lstStyle/>
          <a:p>
            <a:pPr algn="r"/>
            <a:r>
              <a:rPr lang="en-US" sz="1200" b="1" i="0">
                <a:solidFill>
                  <a:srgbClr val="00B050"/>
                </a:solidFill>
                <a:effectLst/>
                <a:latin typeface="Mona Sans VF"/>
              </a:rPr>
              <a:t>Under active expansion</a:t>
            </a:r>
            <a:br>
              <a:rPr lang="en-US" sz="1200" b="1" i="0">
                <a:solidFill>
                  <a:srgbClr val="00B050"/>
                </a:solidFill>
                <a:effectLst/>
                <a:latin typeface="Mona Sans VF"/>
              </a:rPr>
            </a:br>
            <a:r>
              <a:rPr lang="en-US" sz="1200" b="0" i="0">
                <a:solidFill>
                  <a:srgbClr val="00B050"/>
                </a:solidFill>
                <a:effectLst/>
                <a:latin typeface="Mona Sans VF"/>
              </a:rPr>
              <a:t>Our catalog is expected to grow significantly</a:t>
            </a:r>
            <a:endParaRPr lang="en-US">
              <a:solidFill>
                <a:srgbClr val="00B050"/>
              </a:solidFill>
            </a:endParaRPr>
          </a:p>
        </p:txBody>
      </p:sp>
      <p:pic>
        <p:nvPicPr>
          <p:cNvPr id="4" name="Picture 3" descr="New Icon, Updated Logo, Stylish Sign, Unique Badge, Modern Symbol PNG">
            <a:extLst>
              <a:ext uri="{FF2B5EF4-FFF2-40B4-BE49-F238E27FC236}">
                <a16:creationId xmlns:a16="http://schemas.microsoft.com/office/drawing/2014/main" id="{2E9FD0C2-B232-0D07-F952-F15262CC2132}"/>
              </a:ext>
            </a:extLst>
          </p:cNvPr>
          <p:cNvPicPr>
            <a:picLocks noChangeAspect="1"/>
          </p:cNvPicPr>
          <p:nvPr/>
        </p:nvPicPr>
        <p:blipFill>
          <a:blip r:embed="rId4">
            <a:duotone>
              <a:prstClr val="black"/>
              <a:srgbClr val="00B050">
                <a:tint val="45000"/>
                <a:satMod val="400000"/>
              </a:srgbClr>
            </a:duotone>
          </a:blip>
          <a:stretch>
            <a:fillRect/>
          </a:stretch>
        </p:blipFill>
        <p:spPr>
          <a:xfrm>
            <a:off x="8042028" y="5339595"/>
            <a:ext cx="770274" cy="770274"/>
          </a:xfrm>
          <a:prstGeom prst="rect">
            <a:avLst/>
          </a:prstGeom>
        </p:spPr>
      </p:pic>
    </p:spTree>
    <p:extLst>
      <p:ext uri="{BB962C8B-B14F-4D97-AF65-F5344CB8AC3E}">
        <p14:creationId xmlns:p14="http://schemas.microsoft.com/office/powerpoint/2010/main" val="220339533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AB5FD6F-4908-1916-7AB0-4B71F75A616A}"/>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4A7A46CF-19ED-C380-37DC-8410F549DCD0}"/>
              </a:ext>
            </a:extLst>
          </p:cNvPr>
          <p:cNvGrpSpPr/>
          <p:nvPr/>
        </p:nvGrpSpPr>
        <p:grpSpPr>
          <a:xfrm>
            <a:off x="953968" y="1811214"/>
            <a:ext cx="10140752" cy="2815169"/>
            <a:chOff x="492414" y="1504282"/>
            <a:chExt cx="11064240" cy="3282695"/>
          </a:xfrm>
        </p:grpSpPr>
        <p:sp>
          <p:nvSpPr>
            <p:cNvPr id="11" name="Rounded Rectangle 7">
              <a:extLst>
                <a:ext uri="{FF2B5EF4-FFF2-40B4-BE49-F238E27FC236}">
                  <a16:creationId xmlns:a16="http://schemas.microsoft.com/office/drawing/2014/main" id="{47E7BEC5-0E06-F943-B419-8273AFCC3ACA}"/>
                </a:ext>
              </a:extLst>
            </p:cNvPr>
            <p:cNvSpPr/>
            <p:nvPr/>
          </p:nvSpPr>
          <p:spPr>
            <a:xfrm>
              <a:off x="492414" y="1504282"/>
              <a:ext cx="2331720" cy="3063240"/>
            </a:xfrm>
            <a:prstGeom prst="roundRect">
              <a:avLst>
                <a:gd name="adj" fmla="val 9000"/>
              </a:avLst>
            </a:prstGeom>
            <a:solidFill>
              <a:srgbClr val="1B2430"/>
            </a:solidFill>
            <a:ln w="15875">
              <a:solidFill>
                <a:srgbClr val="2B3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Rounded Rectangle 8">
              <a:extLst>
                <a:ext uri="{FF2B5EF4-FFF2-40B4-BE49-F238E27FC236}">
                  <a16:creationId xmlns:a16="http://schemas.microsoft.com/office/drawing/2014/main" id="{8C403C50-36A5-6F0A-F55B-60CB511778A3}"/>
                </a:ext>
              </a:extLst>
            </p:cNvPr>
            <p:cNvSpPr/>
            <p:nvPr/>
          </p:nvSpPr>
          <p:spPr>
            <a:xfrm>
              <a:off x="1361093" y="1760314"/>
              <a:ext cx="594360" cy="594360"/>
            </a:xfrm>
            <a:prstGeom prst="roundRect">
              <a:avLst>
                <a:gd name="adj" fmla="val 35000"/>
              </a:avLst>
            </a:prstGeom>
            <a:solidFill>
              <a:srgbClr val="2A1618"/>
            </a:solidFill>
            <a:ln w="12700">
              <a:solidFill>
                <a:srgbClr val="EF64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a:extLst>
                <a:ext uri="{FF2B5EF4-FFF2-40B4-BE49-F238E27FC236}">
                  <a16:creationId xmlns:a16="http://schemas.microsoft.com/office/drawing/2014/main" id="{68D28810-D9FA-160B-6122-CC68458D4468}"/>
                </a:ext>
              </a:extLst>
            </p:cNvPr>
            <p:cNvSpPr txBox="1"/>
            <p:nvPr/>
          </p:nvSpPr>
          <p:spPr>
            <a:xfrm>
              <a:off x="581411" y="2663647"/>
              <a:ext cx="2209799" cy="215334"/>
            </a:xfrm>
            <a:prstGeom prst="rect">
              <a:avLst/>
            </a:prstGeom>
            <a:noFill/>
          </p:spPr>
          <p:txBody>
            <a:bodyPr wrap="square" lIns="0" tIns="0" rIns="0" bIns="0" anchor="t">
              <a:spAutoFit/>
            </a:bodyPr>
            <a:lstStyle/>
            <a:p>
              <a:pPr algn="ctr">
                <a:lnSpc>
                  <a:spcPct val="100000"/>
                </a:lnSpc>
              </a:pPr>
              <a:r>
                <a:rPr lang="en-US" sz="1200" b="1">
                  <a:solidFill>
                    <a:srgbClr val="EEF3F8"/>
                  </a:solidFill>
                  <a:latin typeface="Segoe UI"/>
                </a:rPr>
                <a:t>AMD Skills Repo</a:t>
              </a:r>
              <a:endParaRPr sz="1200" b="1">
                <a:solidFill>
                  <a:srgbClr val="EEF3F8"/>
                </a:solidFill>
                <a:latin typeface="Segoe UI"/>
              </a:endParaRPr>
            </a:p>
          </p:txBody>
        </p:sp>
        <p:sp>
          <p:nvSpPr>
            <p:cNvPr id="21" name="TextBox 20">
              <a:extLst>
                <a:ext uri="{FF2B5EF4-FFF2-40B4-BE49-F238E27FC236}">
                  <a16:creationId xmlns:a16="http://schemas.microsoft.com/office/drawing/2014/main" id="{9A82AB21-C454-4C68-7D31-2B012A599ED3}"/>
                </a:ext>
              </a:extLst>
            </p:cNvPr>
            <p:cNvSpPr txBox="1"/>
            <p:nvPr/>
          </p:nvSpPr>
          <p:spPr>
            <a:xfrm>
              <a:off x="657006" y="3013903"/>
              <a:ext cx="2002536" cy="434483"/>
            </a:xfrm>
            <a:prstGeom prst="rect">
              <a:avLst/>
            </a:prstGeom>
            <a:noFill/>
          </p:spPr>
          <p:txBody>
            <a:bodyPr wrap="square" lIns="0" tIns="0" rIns="0" bIns="0" anchor="t">
              <a:spAutoFit/>
            </a:bodyPr>
            <a:lstStyle/>
            <a:p>
              <a:pPr algn="ctr">
                <a:lnSpc>
                  <a:spcPct val="115000"/>
                </a:lnSpc>
              </a:pPr>
              <a:r>
                <a:rPr lang="en-US" sz="1100" b="0">
                  <a:solidFill>
                    <a:srgbClr val="9FB0C0"/>
                  </a:solidFill>
                  <a:latin typeface="Segoe UI"/>
                </a:rPr>
                <a:t>All skills aggregated</a:t>
              </a:r>
              <a:r>
                <a:rPr sz="1100" b="0">
                  <a:solidFill>
                    <a:srgbClr val="9FB0C0"/>
                  </a:solidFill>
                  <a:latin typeface="Segoe UI"/>
                </a:rPr>
                <a:t>. Every skill </a:t>
              </a:r>
              <a:r>
                <a:rPr lang="en-US" sz="1100" b="0">
                  <a:solidFill>
                    <a:srgbClr val="9FB0C0"/>
                  </a:solidFill>
                  <a:latin typeface="Segoe UI"/>
                </a:rPr>
                <a:t>verified through CI/CD</a:t>
              </a:r>
              <a:r>
                <a:rPr sz="1100" b="0">
                  <a:solidFill>
                    <a:srgbClr val="9FB0C0"/>
                  </a:solidFill>
                  <a:latin typeface="Segoe UI"/>
                </a:rPr>
                <a:t>.</a:t>
              </a:r>
            </a:p>
          </p:txBody>
        </p:sp>
        <p:sp>
          <p:nvSpPr>
            <p:cNvPr id="22" name="Rounded Rectangle 12">
              <a:extLst>
                <a:ext uri="{FF2B5EF4-FFF2-40B4-BE49-F238E27FC236}">
                  <a16:creationId xmlns:a16="http://schemas.microsoft.com/office/drawing/2014/main" id="{FC32C8CE-8117-5207-6A73-E6B74FB46394}"/>
                </a:ext>
              </a:extLst>
            </p:cNvPr>
            <p:cNvSpPr/>
            <p:nvPr/>
          </p:nvSpPr>
          <p:spPr>
            <a:xfrm>
              <a:off x="1041054" y="3991450"/>
              <a:ext cx="1234440" cy="384048"/>
            </a:xfrm>
            <a:prstGeom prst="roundRect">
              <a:avLst>
                <a:gd name="adj" fmla="val 14539"/>
              </a:avLst>
            </a:prstGeom>
            <a:solidFill>
              <a:srgbClr val="2A1618"/>
            </a:solidFill>
            <a:ln w="12700">
              <a:solidFill>
                <a:srgbClr val="EF64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6" name="TextBox 25">
              <a:extLst>
                <a:ext uri="{FF2B5EF4-FFF2-40B4-BE49-F238E27FC236}">
                  <a16:creationId xmlns:a16="http://schemas.microsoft.com/office/drawing/2014/main" id="{DC3A1B98-B498-CACE-C326-37281F848A03}"/>
                </a:ext>
              </a:extLst>
            </p:cNvPr>
            <p:cNvSpPr txBox="1"/>
            <p:nvPr/>
          </p:nvSpPr>
          <p:spPr>
            <a:xfrm>
              <a:off x="1048674" y="4102723"/>
              <a:ext cx="1234440" cy="161500"/>
            </a:xfrm>
            <a:prstGeom prst="rect">
              <a:avLst/>
            </a:prstGeom>
            <a:noFill/>
          </p:spPr>
          <p:txBody>
            <a:bodyPr wrap="square" lIns="0" tIns="0" rIns="0" bIns="0" anchor="ctr">
              <a:spAutoFit/>
            </a:bodyPr>
            <a:lstStyle/>
            <a:p>
              <a:pPr algn="ctr">
                <a:lnSpc>
                  <a:spcPct val="100000"/>
                </a:lnSpc>
              </a:pPr>
              <a:r>
                <a:rPr lang="en-US" sz="900" b="1" spc="100">
                  <a:solidFill>
                    <a:srgbClr val="EF6425"/>
                  </a:solidFill>
                  <a:latin typeface="Segoe UI"/>
                </a:rPr>
                <a:t>SKILLS SOURCE</a:t>
              </a:r>
              <a:endParaRPr sz="900" b="1" spc="100">
                <a:solidFill>
                  <a:srgbClr val="EF6425"/>
                </a:solidFill>
                <a:latin typeface="Segoe UI"/>
              </a:endParaRPr>
            </a:p>
          </p:txBody>
        </p:sp>
        <p:cxnSp>
          <p:nvCxnSpPr>
            <p:cNvPr id="28" name="Connector 14">
              <a:extLst>
                <a:ext uri="{FF2B5EF4-FFF2-40B4-BE49-F238E27FC236}">
                  <a16:creationId xmlns:a16="http://schemas.microsoft.com/office/drawing/2014/main" id="{545C2049-753C-0E60-4AC5-1E95913F391F}"/>
                </a:ext>
              </a:extLst>
            </p:cNvPr>
            <p:cNvCxnSpPr/>
            <p:nvPr/>
          </p:nvCxnSpPr>
          <p:spPr>
            <a:xfrm flipV="1">
              <a:off x="2824134" y="2418682"/>
              <a:ext cx="731520" cy="617219"/>
            </a:xfrm>
            <a:prstGeom prst="bentConnector3">
              <a:avLst/>
            </a:prstGeom>
            <a:ln w="28575">
              <a:solidFill>
                <a:srgbClr val="37D67A"/>
              </a:solidFill>
            </a:ln>
          </p:spPr>
          <p:style>
            <a:lnRef idx="2">
              <a:schemeClr val="accent1"/>
            </a:lnRef>
            <a:fillRef idx="0">
              <a:schemeClr val="accent1"/>
            </a:fillRef>
            <a:effectRef idx="1">
              <a:schemeClr val="accent1"/>
            </a:effectRef>
            <a:fontRef idx="minor">
              <a:schemeClr val="tx1"/>
            </a:fontRef>
          </p:style>
        </p:cxnSp>
        <p:cxnSp>
          <p:nvCxnSpPr>
            <p:cNvPr id="29" name="Connector 15">
              <a:extLst>
                <a:ext uri="{FF2B5EF4-FFF2-40B4-BE49-F238E27FC236}">
                  <a16:creationId xmlns:a16="http://schemas.microsoft.com/office/drawing/2014/main" id="{E3B9E649-889F-C962-B2FD-C73E7C72E5EF}"/>
                </a:ext>
              </a:extLst>
            </p:cNvPr>
            <p:cNvCxnSpPr/>
            <p:nvPr/>
          </p:nvCxnSpPr>
          <p:spPr>
            <a:xfrm>
              <a:off x="2824134" y="3035901"/>
              <a:ext cx="731520" cy="1028701"/>
            </a:xfrm>
            <a:prstGeom prst="bentConnector3">
              <a:avLst/>
            </a:prstGeom>
            <a:ln w="28575">
              <a:solidFill>
                <a:srgbClr val="FFCF5C"/>
              </a:solidFill>
            </a:ln>
          </p:spPr>
          <p:style>
            <a:lnRef idx="2">
              <a:schemeClr val="accent1"/>
            </a:lnRef>
            <a:fillRef idx="0">
              <a:schemeClr val="accent1"/>
            </a:fillRef>
            <a:effectRef idx="1">
              <a:schemeClr val="accent1"/>
            </a:effectRef>
            <a:fontRef idx="minor">
              <a:schemeClr val="tx1"/>
            </a:fontRef>
          </p:style>
        </p:cxnSp>
        <p:sp>
          <p:nvSpPr>
            <p:cNvPr id="30" name="Rounded Rectangle 16">
              <a:extLst>
                <a:ext uri="{FF2B5EF4-FFF2-40B4-BE49-F238E27FC236}">
                  <a16:creationId xmlns:a16="http://schemas.microsoft.com/office/drawing/2014/main" id="{B24A0A5E-8D06-B0C0-023B-0B23119EEFC4}"/>
                </a:ext>
              </a:extLst>
            </p:cNvPr>
            <p:cNvSpPr/>
            <p:nvPr/>
          </p:nvSpPr>
          <p:spPr>
            <a:xfrm>
              <a:off x="3555654" y="1659730"/>
              <a:ext cx="8001000" cy="1481328"/>
            </a:xfrm>
            <a:prstGeom prst="roundRect">
              <a:avLst>
                <a:gd name="adj" fmla="val 0"/>
              </a:avLst>
            </a:prstGeom>
            <a:solidFill>
              <a:srgbClr val="1B2430"/>
            </a:solidFill>
            <a:ln w="15875">
              <a:solidFill>
                <a:srgbClr val="2B3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1" name="Rectangle 30">
              <a:extLst>
                <a:ext uri="{FF2B5EF4-FFF2-40B4-BE49-F238E27FC236}">
                  <a16:creationId xmlns:a16="http://schemas.microsoft.com/office/drawing/2014/main" id="{B543171F-6054-E038-0F00-F7C33D6A3469}"/>
                </a:ext>
              </a:extLst>
            </p:cNvPr>
            <p:cNvSpPr/>
            <p:nvPr/>
          </p:nvSpPr>
          <p:spPr>
            <a:xfrm>
              <a:off x="3555654" y="1659730"/>
              <a:ext cx="118872" cy="1481328"/>
            </a:xfrm>
            <a:prstGeom prst="rect">
              <a:avLst/>
            </a:prstGeom>
            <a:solidFill>
              <a:srgbClr val="37D6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2" name="Rounded Rectangle 18">
              <a:extLst>
                <a:ext uri="{FF2B5EF4-FFF2-40B4-BE49-F238E27FC236}">
                  <a16:creationId xmlns:a16="http://schemas.microsoft.com/office/drawing/2014/main" id="{1A2F6FD4-13FB-C981-CE3A-4A49EAE89C34}"/>
                </a:ext>
              </a:extLst>
            </p:cNvPr>
            <p:cNvSpPr/>
            <p:nvPr/>
          </p:nvSpPr>
          <p:spPr>
            <a:xfrm>
              <a:off x="3811686" y="1741165"/>
              <a:ext cx="1737360" cy="384048"/>
            </a:xfrm>
            <a:prstGeom prst="roundRect">
              <a:avLst>
                <a:gd name="adj" fmla="val 18553"/>
              </a:avLst>
            </a:prstGeom>
            <a:solidFill>
              <a:srgbClr val="14221A"/>
            </a:solidFill>
            <a:ln w="12700">
              <a:solidFill>
                <a:srgbClr val="37D6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3" name="TextBox 32">
              <a:extLst>
                <a:ext uri="{FF2B5EF4-FFF2-40B4-BE49-F238E27FC236}">
                  <a16:creationId xmlns:a16="http://schemas.microsoft.com/office/drawing/2014/main" id="{8BF56928-E2DA-84A0-1A0C-120AD652B991}"/>
                </a:ext>
              </a:extLst>
            </p:cNvPr>
            <p:cNvSpPr txBox="1"/>
            <p:nvPr/>
          </p:nvSpPr>
          <p:spPr>
            <a:xfrm>
              <a:off x="3811686" y="1879181"/>
              <a:ext cx="1737359" cy="143557"/>
            </a:xfrm>
            <a:prstGeom prst="rect">
              <a:avLst/>
            </a:prstGeom>
            <a:noFill/>
          </p:spPr>
          <p:txBody>
            <a:bodyPr wrap="square" lIns="0" tIns="0" rIns="0" bIns="0" anchor="ctr">
              <a:spAutoFit/>
            </a:bodyPr>
            <a:lstStyle/>
            <a:p>
              <a:pPr algn="ctr">
                <a:lnSpc>
                  <a:spcPct val="100000"/>
                </a:lnSpc>
              </a:pPr>
              <a:r>
                <a:rPr sz="800" b="1" spc="110">
                  <a:solidFill>
                    <a:srgbClr val="37D67A"/>
                  </a:solidFill>
                  <a:latin typeface="Segoe UI"/>
                </a:rPr>
                <a:t>MAIN CATALOG</a:t>
              </a:r>
            </a:p>
          </p:txBody>
        </p:sp>
        <p:sp>
          <p:nvSpPr>
            <p:cNvPr id="34" name="TextBox 33">
              <a:extLst>
                <a:ext uri="{FF2B5EF4-FFF2-40B4-BE49-F238E27FC236}">
                  <a16:creationId xmlns:a16="http://schemas.microsoft.com/office/drawing/2014/main" id="{35AED770-83F0-0200-12C6-8EB852A7BFE4}"/>
                </a:ext>
              </a:extLst>
            </p:cNvPr>
            <p:cNvSpPr txBox="1"/>
            <p:nvPr/>
          </p:nvSpPr>
          <p:spPr>
            <a:xfrm>
              <a:off x="5704493" y="1710881"/>
              <a:ext cx="4590978" cy="251224"/>
            </a:xfrm>
            <a:prstGeom prst="rect">
              <a:avLst/>
            </a:prstGeom>
            <a:noFill/>
          </p:spPr>
          <p:txBody>
            <a:bodyPr wrap="square" lIns="0" tIns="0" rIns="0" bIns="0" anchor="ctr">
              <a:spAutoFit/>
            </a:bodyPr>
            <a:lstStyle/>
            <a:p>
              <a:pPr algn="l">
                <a:lnSpc>
                  <a:spcPct val="100000"/>
                </a:lnSpc>
              </a:pPr>
              <a:r>
                <a:rPr lang="en-US" sz="1400" b="1">
                  <a:solidFill>
                    <a:srgbClr val="EEF3F8"/>
                  </a:solidFill>
                  <a:latin typeface="Segoe UI"/>
                </a:rPr>
                <a:t>Vercel NPX:</a:t>
              </a:r>
              <a:r>
                <a:rPr sz="1400" b="1">
                  <a:solidFill>
                    <a:srgbClr val="EEF3F8"/>
                  </a:solidFill>
                  <a:latin typeface="Segoe UI"/>
                </a:rPr>
                <a:t> the </a:t>
              </a:r>
              <a:r>
                <a:rPr lang="en-US" sz="1400" b="1">
                  <a:solidFill>
                    <a:srgbClr val="EEF3F8"/>
                  </a:solidFill>
                  <a:latin typeface="Segoe UI"/>
                </a:rPr>
                <a:t>industry-standard </a:t>
              </a:r>
              <a:r>
                <a:rPr sz="1400" b="1">
                  <a:solidFill>
                    <a:srgbClr val="EEF3F8"/>
                  </a:solidFill>
                  <a:latin typeface="Segoe UI"/>
                </a:rPr>
                <a:t>catalog</a:t>
              </a:r>
            </a:p>
          </p:txBody>
        </p:sp>
        <p:sp>
          <p:nvSpPr>
            <p:cNvPr id="35" name="TextBox 34">
              <a:extLst>
                <a:ext uri="{FF2B5EF4-FFF2-40B4-BE49-F238E27FC236}">
                  <a16:creationId xmlns:a16="http://schemas.microsoft.com/office/drawing/2014/main" id="{D0223970-8F88-59E7-CE31-B81C62C53817}"/>
                </a:ext>
              </a:extLst>
            </p:cNvPr>
            <p:cNvSpPr txBox="1"/>
            <p:nvPr/>
          </p:nvSpPr>
          <p:spPr>
            <a:xfrm>
              <a:off x="8950614" y="1775202"/>
              <a:ext cx="2468880" cy="197389"/>
            </a:xfrm>
            <a:prstGeom prst="rect">
              <a:avLst/>
            </a:prstGeom>
            <a:noFill/>
          </p:spPr>
          <p:txBody>
            <a:bodyPr wrap="square" lIns="0" tIns="0" rIns="0" bIns="0" anchor="ctr">
              <a:spAutoFit/>
            </a:bodyPr>
            <a:lstStyle/>
            <a:p>
              <a:pPr algn="r">
                <a:lnSpc>
                  <a:spcPct val="100000"/>
                </a:lnSpc>
              </a:pPr>
              <a:r>
                <a:rPr sz="1100" b="1">
                  <a:solidFill>
                    <a:srgbClr val="EEF3F8"/>
                  </a:solidFill>
                  <a:latin typeface="Segoe UI"/>
                </a:rPr>
                <a:t>All</a:t>
              </a:r>
              <a:r>
                <a:rPr lang="en-US" sz="1100" b="1">
                  <a:solidFill>
                    <a:srgbClr val="EEF3F8"/>
                  </a:solidFill>
                  <a:latin typeface="Segoe UI"/>
                </a:rPr>
                <a:t> Skills</a:t>
              </a:r>
              <a:endParaRPr sz="1100" b="0">
                <a:solidFill>
                  <a:srgbClr val="9FB0C0"/>
                </a:solidFill>
                <a:latin typeface="Segoe UI"/>
              </a:endParaRPr>
            </a:p>
          </p:txBody>
        </p:sp>
        <p:sp>
          <p:nvSpPr>
            <p:cNvPr id="36" name="Rounded Rectangle 22">
              <a:extLst>
                <a:ext uri="{FF2B5EF4-FFF2-40B4-BE49-F238E27FC236}">
                  <a16:creationId xmlns:a16="http://schemas.microsoft.com/office/drawing/2014/main" id="{C79D6897-E22D-7D3A-36FD-D378504E84FA}"/>
                </a:ext>
              </a:extLst>
            </p:cNvPr>
            <p:cNvSpPr/>
            <p:nvPr/>
          </p:nvSpPr>
          <p:spPr>
            <a:xfrm>
              <a:off x="3811686" y="2391250"/>
              <a:ext cx="2148840" cy="457200"/>
            </a:xfrm>
            <a:prstGeom prst="roundRect">
              <a:avLst>
                <a:gd name="adj" fmla="val 18000"/>
              </a:avLst>
            </a:prstGeom>
            <a:solidFill>
              <a:srgbClr val="202A37"/>
            </a:solidFill>
            <a:ln w="9525">
              <a:solidFill>
                <a:srgbClr val="2B3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7" name="Rounded Rectangle 23">
              <a:extLst>
                <a:ext uri="{FF2B5EF4-FFF2-40B4-BE49-F238E27FC236}">
                  <a16:creationId xmlns:a16="http://schemas.microsoft.com/office/drawing/2014/main" id="{E0DCDA1B-3204-9BBD-7303-8BED24868AB5}"/>
                </a:ext>
              </a:extLst>
            </p:cNvPr>
            <p:cNvSpPr/>
            <p:nvPr/>
          </p:nvSpPr>
          <p:spPr>
            <a:xfrm>
              <a:off x="3903126" y="2473546"/>
              <a:ext cx="292608" cy="292608"/>
            </a:xfrm>
            <a:prstGeom prst="roundRect">
              <a:avLst>
                <a:gd name="adj" fmla="val 25000"/>
              </a:avLst>
            </a:prstGeom>
            <a:solidFill>
              <a:srgbClr val="2B3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8" name="TextBox 37">
              <a:extLst>
                <a:ext uri="{FF2B5EF4-FFF2-40B4-BE49-F238E27FC236}">
                  <a16:creationId xmlns:a16="http://schemas.microsoft.com/office/drawing/2014/main" id="{63C51FC6-53CF-5A25-342F-31A5E6D15725}"/>
                </a:ext>
              </a:extLst>
            </p:cNvPr>
            <p:cNvSpPr txBox="1"/>
            <p:nvPr/>
          </p:nvSpPr>
          <p:spPr>
            <a:xfrm>
              <a:off x="4268886" y="2476807"/>
              <a:ext cx="1645920" cy="340946"/>
            </a:xfrm>
            <a:prstGeom prst="rect">
              <a:avLst/>
            </a:prstGeom>
            <a:noFill/>
          </p:spPr>
          <p:txBody>
            <a:bodyPr wrap="square" lIns="0" tIns="0" rIns="0" bIns="0" anchor="ctr">
              <a:spAutoFit/>
            </a:bodyPr>
            <a:lstStyle/>
            <a:p>
              <a:pPr algn="l">
                <a:lnSpc>
                  <a:spcPct val="95000"/>
                </a:lnSpc>
              </a:pPr>
              <a:r>
                <a:rPr sz="1100" b="1">
                  <a:solidFill>
                    <a:srgbClr val="EEF3F8"/>
                  </a:solidFill>
                  <a:latin typeface="Segoe UI"/>
                </a:rPr>
                <a:t>npx skills CLI</a:t>
              </a:r>
            </a:p>
            <a:p>
              <a:pPr algn="l">
                <a:lnSpc>
                  <a:spcPct val="95000"/>
                </a:lnSpc>
              </a:pPr>
              <a:r>
                <a:rPr sz="900" b="0">
                  <a:solidFill>
                    <a:srgbClr val="9FB0C0"/>
                  </a:solidFill>
                  <a:latin typeface="Segoe UI"/>
                </a:rPr>
                <a:t>Terminal installer</a:t>
              </a:r>
            </a:p>
          </p:txBody>
        </p:sp>
        <p:sp>
          <p:nvSpPr>
            <p:cNvPr id="39" name="Rounded Rectangle 26">
              <a:extLst>
                <a:ext uri="{FF2B5EF4-FFF2-40B4-BE49-F238E27FC236}">
                  <a16:creationId xmlns:a16="http://schemas.microsoft.com/office/drawing/2014/main" id="{0E9FE6BB-6A36-89A4-AA18-07D034FE561F}"/>
                </a:ext>
              </a:extLst>
            </p:cNvPr>
            <p:cNvSpPr/>
            <p:nvPr/>
          </p:nvSpPr>
          <p:spPr>
            <a:xfrm>
              <a:off x="6106830" y="2391250"/>
              <a:ext cx="2743200" cy="457200"/>
            </a:xfrm>
            <a:prstGeom prst="roundRect">
              <a:avLst>
                <a:gd name="adj" fmla="val 18000"/>
              </a:avLst>
            </a:prstGeom>
            <a:solidFill>
              <a:srgbClr val="202A37"/>
            </a:solidFill>
            <a:ln w="9525">
              <a:solidFill>
                <a:srgbClr val="2B3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0" name="TextBox 39">
              <a:extLst>
                <a:ext uri="{FF2B5EF4-FFF2-40B4-BE49-F238E27FC236}">
                  <a16:creationId xmlns:a16="http://schemas.microsoft.com/office/drawing/2014/main" id="{BCFF314F-AC51-A97D-AB89-CD3703231313}"/>
                </a:ext>
              </a:extLst>
            </p:cNvPr>
            <p:cNvSpPr txBox="1"/>
            <p:nvPr/>
          </p:nvSpPr>
          <p:spPr>
            <a:xfrm>
              <a:off x="7176502" y="2476807"/>
              <a:ext cx="1445442" cy="340946"/>
            </a:xfrm>
            <a:prstGeom prst="rect">
              <a:avLst/>
            </a:prstGeom>
            <a:noFill/>
          </p:spPr>
          <p:txBody>
            <a:bodyPr wrap="square" lIns="0" tIns="0" rIns="0" bIns="0" anchor="ctr">
              <a:spAutoFit/>
            </a:bodyPr>
            <a:lstStyle/>
            <a:p>
              <a:pPr algn="l">
                <a:lnSpc>
                  <a:spcPct val="95000"/>
                </a:lnSpc>
              </a:pPr>
              <a:r>
                <a:rPr sz="1100" b="1">
                  <a:solidFill>
                    <a:srgbClr val="EEF3F8"/>
                  </a:solidFill>
                  <a:latin typeface="Segoe UI"/>
                </a:rPr>
                <a:t>skills.sh</a:t>
              </a:r>
            </a:p>
            <a:p>
              <a:pPr algn="l">
                <a:lnSpc>
                  <a:spcPct val="95000"/>
                </a:lnSpc>
              </a:pPr>
              <a:r>
                <a:rPr sz="900" b="0">
                  <a:solidFill>
                    <a:srgbClr val="9FB0C0"/>
                  </a:solidFill>
                  <a:latin typeface="Segoe UI"/>
                </a:rPr>
                <a:t>Web marketplace </a:t>
              </a:r>
            </a:p>
          </p:txBody>
        </p:sp>
        <p:sp>
          <p:nvSpPr>
            <p:cNvPr id="41" name="TextBox 40">
              <a:extLst>
                <a:ext uri="{FF2B5EF4-FFF2-40B4-BE49-F238E27FC236}">
                  <a16:creationId xmlns:a16="http://schemas.microsoft.com/office/drawing/2014/main" id="{61DDB9C3-6A4E-193A-EB4F-6305F81F6E95}"/>
                </a:ext>
              </a:extLst>
            </p:cNvPr>
            <p:cNvSpPr txBox="1"/>
            <p:nvPr/>
          </p:nvSpPr>
          <p:spPr>
            <a:xfrm>
              <a:off x="3811686" y="2859483"/>
              <a:ext cx="7744968" cy="197389"/>
            </a:xfrm>
            <a:prstGeom prst="rect">
              <a:avLst/>
            </a:prstGeom>
            <a:noFill/>
          </p:spPr>
          <p:txBody>
            <a:bodyPr wrap="square" lIns="0" tIns="0" rIns="0" bIns="0" anchor="ctr">
              <a:spAutoFit/>
            </a:bodyPr>
            <a:lstStyle/>
            <a:p>
              <a:pPr algn="l">
                <a:lnSpc>
                  <a:spcPct val="100000"/>
                </a:lnSpc>
              </a:pPr>
              <a:r>
                <a:rPr sz="1100" b="0">
                  <a:solidFill>
                    <a:srgbClr val="9FB0C0"/>
                  </a:solidFill>
                  <a:latin typeface="Segoe UI"/>
                </a:rPr>
                <a:t>The complete set. </a:t>
              </a:r>
              <a:r>
                <a:rPr lang="en-US" sz="1100">
                  <a:solidFill>
                    <a:srgbClr val="9FB0C0"/>
                  </a:solidFill>
                  <a:latin typeface="Segoe UI"/>
                </a:rPr>
                <a:t>U</a:t>
              </a:r>
              <a:r>
                <a:rPr sz="1100" b="0">
                  <a:solidFill>
                    <a:srgbClr val="9FB0C0"/>
                  </a:solidFill>
                  <a:latin typeface="Segoe UI"/>
                </a:rPr>
                <a:t>sers </a:t>
              </a:r>
              <a:r>
                <a:rPr sz="1100">
                  <a:solidFill>
                    <a:srgbClr val="9FB0C0"/>
                  </a:solidFill>
                  <a:latin typeface="Segoe UI"/>
                </a:rPr>
                <a:t>pick individual skills</a:t>
              </a:r>
              <a:r>
                <a:rPr sz="1100" b="0">
                  <a:solidFill>
                    <a:srgbClr val="9FB0C0"/>
                  </a:solidFill>
                  <a:latin typeface="Segoe UI"/>
                </a:rPr>
                <a:t>; </a:t>
              </a:r>
              <a:r>
                <a:rPr lang="en-US" sz="1100" b="1">
                  <a:solidFill>
                    <a:srgbClr val="9FB0C0"/>
                  </a:solidFill>
                  <a:latin typeface="Segoe UI"/>
                </a:rPr>
                <a:t>Works with all agents</a:t>
              </a:r>
              <a:r>
                <a:rPr lang="en-US" sz="1100" b="0">
                  <a:solidFill>
                    <a:srgbClr val="9FB0C0"/>
                  </a:solidFill>
                  <a:latin typeface="Segoe UI"/>
                </a:rPr>
                <a:t>.</a:t>
              </a:r>
              <a:r>
                <a:rPr lang="sv-SE" sz="1100" b="0">
                  <a:solidFill>
                    <a:srgbClr val="9FB0C0"/>
                  </a:solidFill>
                  <a:latin typeface="Segoe UI"/>
                </a:rPr>
                <a:t> Command: </a:t>
              </a:r>
              <a:r>
                <a:rPr lang="sv-SE" sz="1100" b="1">
                  <a:solidFill>
                    <a:srgbClr val="37D67A"/>
                  </a:solidFill>
                  <a:latin typeface="Segoe UI"/>
                </a:rPr>
                <a:t>npx skills add amd/skills</a:t>
              </a:r>
              <a:r>
                <a:rPr lang="en-US" sz="1100" b="0">
                  <a:solidFill>
                    <a:srgbClr val="37D67A"/>
                  </a:solidFill>
                  <a:latin typeface="Segoe UI"/>
                </a:rPr>
                <a:t>  </a:t>
              </a:r>
              <a:endParaRPr sz="1100" b="0">
                <a:solidFill>
                  <a:srgbClr val="37D67A"/>
                </a:solidFill>
                <a:latin typeface="Segoe UI"/>
              </a:endParaRPr>
            </a:p>
          </p:txBody>
        </p:sp>
        <p:sp>
          <p:nvSpPr>
            <p:cNvPr id="42" name="Rounded Rectangle 31">
              <a:extLst>
                <a:ext uri="{FF2B5EF4-FFF2-40B4-BE49-F238E27FC236}">
                  <a16:creationId xmlns:a16="http://schemas.microsoft.com/office/drawing/2014/main" id="{4A23FB51-D6DD-B3A4-6709-3C89631D86C8}"/>
                </a:ext>
              </a:extLst>
            </p:cNvPr>
            <p:cNvSpPr/>
            <p:nvPr/>
          </p:nvSpPr>
          <p:spPr>
            <a:xfrm>
              <a:off x="3555654" y="3305649"/>
              <a:ext cx="8001000" cy="1481328"/>
            </a:xfrm>
            <a:prstGeom prst="roundRect">
              <a:avLst>
                <a:gd name="adj" fmla="val 0"/>
              </a:avLst>
            </a:prstGeom>
            <a:solidFill>
              <a:srgbClr val="1B2430"/>
            </a:solidFill>
            <a:ln w="15875">
              <a:solidFill>
                <a:srgbClr val="2B3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3" name="Rectangle 42">
              <a:extLst>
                <a:ext uri="{FF2B5EF4-FFF2-40B4-BE49-F238E27FC236}">
                  <a16:creationId xmlns:a16="http://schemas.microsoft.com/office/drawing/2014/main" id="{56EC1BC9-C2A8-98A4-0AEF-189FB6DD5548}"/>
                </a:ext>
              </a:extLst>
            </p:cNvPr>
            <p:cNvSpPr/>
            <p:nvPr/>
          </p:nvSpPr>
          <p:spPr>
            <a:xfrm>
              <a:off x="3555654" y="3299331"/>
              <a:ext cx="109728" cy="1481328"/>
            </a:xfrm>
            <a:prstGeom prst="rect">
              <a:avLst/>
            </a:prstGeom>
            <a:solidFill>
              <a:srgbClr val="FFC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4" name="Rounded Rectangle 33">
              <a:extLst>
                <a:ext uri="{FF2B5EF4-FFF2-40B4-BE49-F238E27FC236}">
                  <a16:creationId xmlns:a16="http://schemas.microsoft.com/office/drawing/2014/main" id="{70E2BC5D-C013-1B78-142F-26C7201B66C3}"/>
                </a:ext>
              </a:extLst>
            </p:cNvPr>
            <p:cNvSpPr/>
            <p:nvPr/>
          </p:nvSpPr>
          <p:spPr>
            <a:xfrm>
              <a:off x="3811686" y="3404339"/>
              <a:ext cx="1737360" cy="384048"/>
            </a:xfrm>
            <a:prstGeom prst="roundRect">
              <a:avLst>
                <a:gd name="adj" fmla="val 25292"/>
              </a:avLst>
            </a:prstGeom>
            <a:solidFill>
              <a:srgbClr val="241F12"/>
            </a:solidFill>
            <a:ln w="12700">
              <a:solidFill>
                <a:srgbClr val="FFC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5" name="TextBox 44">
              <a:extLst>
                <a:ext uri="{FF2B5EF4-FFF2-40B4-BE49-F238E27FC236}">
                  <a16:creationId xmlns:a16="http://schemas.microsoft.com/office/drawing/2014/main" id="{6A05CB52-1AD2-E395-F518-5B8170DAAE3E}"/>
                </a:ext>
              </a:extLst>
            </p:cNvPr>
            <p:cNvSpPr txBox="1"/>
            <p:nvPr/>
          </p:nvSpPr>
          <p:spPr>
            <a:xfrm>
              <a:off x="3811686" y="3550978"/>
              <a:ext cx="1737359" cy="143557"/>
            </a:xfrm>
            <a:prstGeom prst="rect">
              <a:avLst/>
            </a:prstGeom>
            <a:noFill/>
          </p:spPr>
          <p:txBody>
            <a:bodyPr wrap="square" lIns="0" tIns="0" rIns="0" bIns="0" anchor="ctr">
              <a:spAutoFit/>
            </a:bodyPr>
            <a:lstStyle/>
            <a:p>
              <a:pPr algn="ctr">
                <a:lnSpc>
                  <a:spcPct val="100000"/>
                </a:lnSpc>
              </a:pPr>
              <a:r>
                <a:rPr sz="800" b="1" spc="110">
                  <a:solidFill>
                    <a:srgbClr val="FFCF5C"/>
                  </a:solidFill>
                  <a:latin typeface="Segoe UI"/>
                </a:rPr>
                <a:t>SHOWCASE CATALOGS</a:t>
              </a:r>
            </a:p>
          </p:txBody>
        </p:sp>
        <p:sp>
          <p:nvSpPr>
            <p:cNvPr id="46" name="TextBox 45">
              <a:extLst>
                <a:ext uri="{FF2B5EF4-FFF2-40B4-BE49-F238E27FC236}">
                  <a16:creationId xmlns:a16="http://schemas.microsoft.com/office/drawing/2014/main" id="{A470FECE-3B7B-25FA-25AD-4DCCA0C6D120}"/>
                </a:ext>
              </a:extLst>
            </p:cNvPr>
            <p:cNvSpPr txBox="1"/>
            <p:nvPr/>
          </p:nvSpPr>
          <p:spPr>
            <a:xfrm>
              <a:off x="5678616" y="3338860"/>
              <a:ext cx="4023360" cy="287112"/>
            </a:xfrm>
            <a:prstGeom prst="rect">
              <a:avLst/>
            </a:prstGeom>
            <a:noFill/>
          </p:spPr>
          <p:txBody>
            <a:bodyPr wrap="square" lIns="0" tIns="0" rIns="0" bIns="0" anchor="ctr">
              <a:spAutoFit/>
            </a:bodyPr>
            <a:lstStyle/>
            <a:p>
              <a:pPr algn="l">
                <a:lnSpc>
                  <a:spcPct val="100000"/>
                </a:lnSpc>
              </a:pPr>
              <a:r>
                <a:rPr sz="1600" b="1">
                  <a:solidFill>
                    <a:srgbClr val="EEF3F8"/>
                  </a:solidFill>
                  <a:latin typeface="Segoe UI"/>
                </a:rPr>
                <a:t>Plugin </a:t>
              </a:r>
              <a:r>
                <a:rPr lang="en-US" sz="1600" b="1">
                  <a:solidFill>
                    <a:srgbClr val="EEF3F8"/>
                  </a:solidFill>
                  <a:latin typeface="Segoe UI"/>
                </a:rPr>
                <a:t>M</a:t>
              </a:r>
              <a:r>
                <a:rPr sz="1600" b="1">
                  <a:solidFill>
                    <a:srgbClr val="EEF3F8"/>
                  </a:solidFill>
                  <a:latin typeface="Segoe UI"/>
                </a:rPr>
                <a:t>arketplaces</a:t>
              </a:r>
            </a:p>
          </p:txBody>
        </p:sp>
        <p:sp>
          <p:nvSpPr>
            <p:cNvPr id="47" name="TextBox 46">
              <a:extLst>
                <a:ext uri="{FF2B5EF4-FFF2-40B4-BE49-F238E27FC236}">
                  <a16:creationId xmlns:a16="http://schemas.microsoft.com/office/drawing/2014/main" id="{38D42FB4-0C4E-9201-2528-95453A0DE566}"/>
                </a:ext>
              </a:extLst>
            </p:cNvPr>
            <p:cNvSpPr txBox="1"/>
            <p:nvPr/>
          </p:nvSpPr>
          <p:spPr>
            <a:xfrm>
              <a:off x="8900322" y="3360280"/>
              <a:ext cx="2569464" cy="197389"/>
            </a:xfrm>
            <a:prstGeom prst="rect">
              <a:avLst/>
            </a:prstGeom>
            <a:noFill/>
          </p:spPr>
          <p:txBody>
            <a:bodyPr wrap="square" lIns="0" tIns="0" rIns="0" bIns="0" anchor="ctr">
              <a:spAutoFit/>
            </a:bodyPr>
            <a:lstStyle/>
            <a:p>
              <a:pPr algn="r">
                <a:lnSpc>
                  <a:spcPct val="100000"/>
                </a:lnSpc>
              </a:pPr>
              <a:r>
                <a:rPr sz="1100" b="1">
                  <a:solidFill>
                    <a:srgbClr val="EEF3F8"/>
                  </a:solidFill>
                  <a:latin typeface="Segoe UI"/>
                </a:rPr>
                <a:t>Curated bundle</a:t>
              </a:r>
              <a:endParaRPr sz="1100" b="0">
                <a:solidFill>
                  <a:srgbClr val="9FB0C0"/>
                </a:solidFill>
                <a:latin typeface="Segoe UI"/>
              </a:endParaRPr>
            </a:p>
          </p:txBody>
        </p:sp>
        <p:sp>
          <p:nvSpPr>
            <p:cNvPr id="48" name="Rounded Rectangle 37">
              <a:extLst>
                <a:ext uri="{FF2B5EF4-FFF2-40B4-BE49-F238E27FC236}">
                  <a16:creationId xmlns:a16="http://schemas.microsoft.com/office/drawing/2014/main" id="{26DFEED0-ECA0-756B-92A7-577BE6E23EEA}"/>
                </a:ext>
              </a:extLst>
            </p:cNvPr>
            <p:cNvSpPr/>
            <p:nvPr/>
          </p:nvSpPr>
          <p:spPr>
            <a:xfrm>
              <a:off x="3811686" y="4037169"/>
              <a:ext cx="2286000" cy="457200"/>
            </a:xfrm>
            <a:prstGeom prst="roundRect">
              <a:avLst>
                <a:gd name="adj" fmla="val 18000"/>
              </a:avLst>
            </a:prstGeom>
            <a:solidFill>
              <a:srgbClr val="202A37"/>
            </a:solidFill>
            <a:ln w="9525">
              <a:solidFill>
                <a:srgbClr val="2B3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9" name="Rounded Rectangle 38">
              <a:extLst>
                <a:ext uri="{FF2B5EF4-FFF2-40B4-BE49-F238E27FC236}">
                  <a16:creationId xmlns:a16="http://schemas.microsoft.com/office/drawing/2014/main" id="{3903BBF4-B367-719F-4CC7-078C025AA35E}"/>
                </a:ext>
              </a:extLst>
            </p:cNvPr>
            <p:cNvSpPr/>
            <p:nvPr/>
          </p:nvSpPr>
          <p:spPr>
            <a:xfrm>
              <a:off x="3903126" y="4119465"/>
              <a:ext cx="292608" cy="292608"/>
            </a:xfrm>
            <a:prstGeom prst="roundRect">
              <a:avLst>
                <a:gd name="adj" fmla="val 25000"/>
              </a:avLst>
            </a:prstGeom>
            <a:solidFill>
              <a:srgbClr val="2B3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0" name="TextBox 49">
              <a:extLst>
                <a:ext uri="{FF2B5EF4-FFF2-40B4-BE49-F238E27FC236}">
                  <a16:creationId xmlns:a16="http://schemas.microsoft.com/office/drawing/2014/main" id="{A9596CCA-AB70-5C56-AF22-870D45B575F2}"/>
                </a:ext>
              </a:extLst>
            </p:cNvPr>
            <p:cNvSpPr txBox="1"/>
            <p:nvPr/>
          </p:nvSpPr>
          <p:spPr>
            <a:xfrm>
              <a:off x="4268886" y="4122728"/>
              <a:ext cx="1783080" cy="340946"/>
            </a:xfrm>
            <a:prstGeom prst="rect">
              <a:avLst/>
            </a:prstGeom>
            <a:noFill/>
          </p:spPr>
          <p:txBody>
            <a:bodyPr wrap="square" lIns="0" tIns="0" rIns="0" bIns="0" anchor="ctr">
              <a:spAutoFit/>
            </a:bodyPr>
            <a:lstStyle/>
            <a:p>
              <a:pPr algn="l">
                <a:lnSpc>
                  <a:spcPct val="95000"/>
                </a:lnSpc>
              </a:pPr>
              <a:r>
                <a:rPr sz="1100" b="1">
                  <a:solidFill>
                    <a:srgbClr val="EEF3F8"/>
                  </a:solidFill>
                  <a:latin typeface="Segoe UI"/>
                </a:rPr>
                <a:t>Claude Code</a:t>
              </a:r>
            </a:p>
            <a:p>
              <a:pPr algn="l">
                <a:lnSpc>
                  <a:spcPct val="95000"/>
                </a:lnSpc>
              </a:pPr>
              <a:r>
                <a:rPr sz="900" b="0">
                  <a:solidFill>
                    <a:srgbClr val="9FB0C0"/>
                  </a:solidFill>
                  <a:latin typeface="Segoe UI"/>
                </a:rPr>
                <a:t>Plugin marketplace</a:t>
              </a:r>
            </a:p>
          </p:txBody>
        </p:sp>
        <p:sp>
          <p:nvSpPr>
            <p:cNvPr id="51" name="Rounded Rectangle 41">
              <a:extLst>
                <a:ext uri="{FF2B5EF4-FFF2-40B4-BE49-F238E27FC236}">
                  <a16:creationId xmlns:a16="http://schemas.microsoft.com/office/drawing/2014/main" id="{23FD9080-94F2-0B23-D16F-BC39E15B683F}"/>
                </a:ext>
              </a:extLst>
            </p:cNvPr>
            <p:cNvSpPr/>
            <p:nvPr/>
          </p:nvSpPr>
          <p:spPr>
            <a:xfrm>
              <a:off x="6243990" y="4037169"/>
              <a:ext cx="2011680" cy="457200"/>
            </a:xfrm>
            <a:prstGeom prst="roundRect">
              <a:avLst>
                <a:gd name="adj" fmla="val 18000"/>
              </a:avLst>
            </a:prstGeom>
            <a:solidFill>
              <a:srgbClr val="202A37"/>
            </a:solidFill>
            <a:ln w="9525">
              <a:solidFill>
                <a:srgbClr val="2B3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2" name="Rounded Rectangle 42">
              <a:extLst>
                <a:ext uri="{FF2B5EF4-FFF2-40B4-BE49-F238E27FC236}">
                  <a16:creationId xmlns:a16="http://schemas.microsoft.com/office/drawing/2014/main" id="{6AD464FF-693F-F262-46C0-7F53238893AD}"/>
                </a:ext>
              </a:extLst>
            </p:cNvPr>
            <p:cNvSpPr/>
            <p:nvPr/>
          </p:nvSpPr>
          <p:spPr>
            <a:xfrm>
              <a:off x="6335430" y="4119465"/>
              <a:ext cx="292608" cy="292608"/>
            </a:xfrm>
            <a:prstGeom prst="roundRect">
              <a:avLst>
                <a:gd name="adj" fmla="val 25000"/>
              </a:avLst>
            </a:prstGeom>
            <a:solidFill>
              <a:srgbClr val="2B3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3" name="TextBox 52">
              <a:extLst>
                <a:ext uri="{FF2B5EF4-FFF2-40B4-BE49-F238E27FC236}">
                  <a16:creationId xmlns:a16="http://schemas.microsoft.com/office/drawing/2014/main" id="{C441E59D-3205-0901-B6CF-24F98727B709}"/>
                </a:ext>
              </a:extLst>
            </p:cNvPr>
            <p:cNvSpPr txBox="1"/>
            <p:nvPr/>
          </p:nvSpPr>
          <p:spPr>
            <a:xfrm>
              <a:off x="6701190" y="4122728"/>
              <a:ext cx="1508760" cy="340946"/>
            </a:xfrm>
            <a:prstGeom prst="rect">
              <a:avLst/>
            </a:prstGeom>
            <a:noFill/>
          </p:spPr>
          <p:txBody>
            <a:bodyPr wrap="square" lIns="0" tIns="0" rIns="0" bIns="0" anchor="ctr">
              <a:spAutoFit/>
            </a:bodyPr>
            <a:lstStyle/>
            <a:p>
              <a:pPr algn="l">
                <a:lnSpc>
                  <a:spcPct val="95000"/>
                </a:lnSpc>
              </a:pPr>
              <a:r>
                <a:rPr sz="1100" b="1">
                  <a:solidFill>
                    <a:srgbClr val="EEF3F8"/>
                  </a:solidFill>
                  <a:latin typeface="Segoe UI"/>
                </a:rPr>
                <a:t>Cursor</a:t>
              </a:r>
            </a:p>
            <a:p>
              <a:pPr algn="l">
                <a:lnSpc>
                  <a:spcPct val="95000"/>
                </a:lnSpc>
              </a:pPr>
              <a:r>
                <a:rPr sz="900" b="0">
                  <a:solidFill>
                    <a:srgbClr val="9FB0C0"/>
                  </a:solidFill>
                  <a:latin typeface="Segoe UI"/>
                </a:rPr>
                <a:t>Plugin marketplace</a:t>
              </a:r>
            </a:p>
          </p:txBody>
        </p:sp>
        <p:sp>
          <p:nvSpPr>
            <p:cNvPr id="54" name="Rounded Rectangle 45">
              <a:extLst>
                <a:ext uri="{FF2B5EF4-FFF2-40B4-BE49-F238E27FC236}">
                  <a16:creationId xmlns:a16="http://schemas.microsoft.com/office/drawing/2014/main" id="{3612A511-670B-AB57-282D-27033597A0F8}"/>
                </a:ext>
              </a:extLst>
            </p:cNvPr>
            <p:cNvSpPr/>
            <p:nvPr/>
          </p:nvSpPr>
          <p:spPr>
            <a:xfrm>
              <a:off x="8401974" y="4037169"/>
              <a:ext cx="2011680" cy="457200"/>
            </a:xfrm>
            <a:prstGeom prst="roundRect">
              <a:avLst>
                <a:gd name="adj" fmla="val 18000"/>
              </a:avLst>
            </a:prstGeom>
            <a:solidFill>
              <a:srgbClr val="202A37"/>
            </a:solidFill>
            <a:ln w="9525">
              <a:solidFill>
                <a:srgbClr val="2B3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5" name="Rounded Rectangle 46">
              <a:extLst>
                <a:ext uri="{FF2B5EF4-FFF2-40B4-BE49-F238E27FC236}">
                  <a16:creationId xmlns:a16="http://schemas.microsoft.com/office/drawing/2014/main" id="{712E8EF7-DA1B-F215-DF63-30CB7FE9FC3F}"/>
                </a:ext>
              </a:extLst>
            </p:cNvPr>
            <p:cNvSpPr/>
            <p:nvPr/>
          </p:nvSpPr>
          <p:spPr>
            <a:xfrm>
              <a:off x="8493414" y="4119465"/>
              <a:ext cx="292608" cy="292608"/>
            </a:xfrm>
            <a:prstGeom prst="roundRect">
              <a:avLst>
                <a:gd name="adj" fmla="val 25000"/>
              </a:avLst>
            </a:prstGeom>
            <a:solidFill>
              <a:srgbClr val="2B3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6" name="TextBox 55">
              <a:extLst>
                <a:ext uri="{FF2B5EF4-FFF2-40B4-BE49-F238E27FC236}">
                  <a16:creationId xmlns:a16="http://schemas.microsoft.com/office/drawing/2014/main" id="{E7851A2B-6012-74F2-2D65-5B18E261E31F}"/>
                </a:ext>
              </a:extLst>
            </p:cNvPr>
            <p:cNvSpPr txBox="1"/>
            <p:nvPr/>
          </p:nvSpPr>
          <p:spPr>
            <a:xfrm>
              <a:off x="8859174" y="4122728"/>
              <a:ext cx="1508760" cy="340946"/>
            </a:xfrm>
            <a:prstGeom prst="rect">
              <a:avLst/>
            </a:prstGeom>
            <a:noFill/>
          </p:spPr>
          <p:txBody>
            <a:bodyPr wrap="square" lIns="0" tIns="0" rIns="0" bIns="0" anchor="ctr">
              <a:spAutoFit/>
            </a:bodyPr>
            <a:lstStyle/>
            <a:p>
              <a:pPr algn="l">
                <a:lnSpc>
                  <a:spcPct val="95000"/>
                </a:lnSpc>
              </a:pPr>
              <a:r>
                <a:rPr sz="1100" b="1">
                  <a:solidFill>
                    <a:srgbClr val="EEF3F8"/>
                  </a:solidFill>
                  <a:latin typeface="Segoe UI"/>
                </a:rPr>
                <a:t>Codex</a:t>
              </a:r>
            </a:p>
            <a:p>
              <a:pPr algn="l">
                <a:lnSpc>
                  <a:spcPct val="95000"/>
                </a:lnSpc>
              </a:pPr>
              <a:r>
                <a:rPr sz="900" b="0">
                  <a:solidFill>
                    <a:srgbClr val="9FB0C0"/>
                  </a:solidFill>
                  <a:latin typeface="Segoe UI"/>
                </a:rPr>
                <a:t>Plugin marketplace</a:t>
              </a:r>
            </a:p>
          </p:txBody>
        </p:sp>
        <p:sp>
          <p:nvSpPr>
            <p:cNvPr id="57" name="TextBox 56">
              <a:extLst>
                <a:ext uri="{FF2B5EF4-FFF2-40B4-BE49-F238E27FC236}">
                  <a16:creationId xmlns:a16="http://schemas.microsoft.com/office/drawing/2014/main" id="{C60B5CC1-BF46-80BA-2382-21F5F5B83D16}"/>
                </a:ext>
              </a:extLst>
            </p:cNvPr>
            <p:cNvSpPr txBox="1"/>
            <p:nvPr/>
          </p:nvSpPr>
          <p:spPr>
            <a:xfrm>
              <a:off x="3811686" y="4557158"/>
              <a:ext cx="7452360" cy="197389"/>
            </a:xfrm>
            <a:prstGeom prst="rect">
              <a:avLst/>
            </a:prstGeom>
            <a:noFill/>
          </p:spPr>
          <p:txBody>
            <a:bodyPr wrap="square" lIns="0" tIns="0" rIns="0" bIns="0" anchor="ctr">
              <a:spAutoFit/>
            </a:bodyPr>
            <a:lstStyle/>
            <a:p>
              <a:pPr algn="l">
                <a:lnSpc>
                  <a:spcPct val="100000"/>
                </a:lnSpc>
              </a:pPr>
              <a:r>
                <a:rPr lang="en-US" sz="1100" b="1">
                  <a:solidFill>
                    <a:srgbClr val="EEF3F8"/>
                  </a:solidFill>
                  <a:latin typeface="Segoe UI"/>
                </a:rPr>
                <a:t>Cherrypicked skills</a:t>
              </a:r>
              <a:r>
                <a:rPr lang="en-US" sz="1100">
                  <a:solidFill>
                    <a:srgbClr val="9FB0C0"/>
                  </a:solidFill>
                  <a:latin typeface="Segoe UI"/>
                </a:rPr>
                <a:t>. </a:t>
              </a:r>
              <a:r>
                <a:rPr lang="en-US" sz="1100" b="0">
                  <a:solidFill>
                    <a:srgbClr val="9FB0C0"/>
                  </a:solidFill>
                  <a:latin typeface="Segoe UI"/>
                </a:rPr>
                <a:t>Same selection</a:t>
              </a:r>
              <a:r>
                <a:rPr sz="1100" b="0">
                  <a:solidFill>
                    <a:srgbClr val="9FB0C0"/>
                  </a:solidFill>
                  <a:latin typeface="Segoe UI"/>
                </a:rPr>
                <a:t> across </a:t>
              </a:r>
              <a:r>
                <a:rPr lang="en-US" sz="1100" b="0">
                  <a:solidFill>
                    <a:srgbClr val="9FB0C0"/>
                  </a:solidFill>
                  <a:latin typeface="Segoe UI"/>
                </a:rPr>
                <a:t>all </a:t>
              </a:r>
              <a:r>
                <a:rPr sz="1100" b="0">
                  <a:solidFill>
                    <a:srgbClr val="9FB0C0"/>
                  </a:solidFill>
                  <a:latin typeface="Segoe UI"/>
                </a:rPr>
                <a:t>agents, built from the same source.</a:t>
              </a:r>
            </a:p>
          </p:txBody>
        </p:sp>
        <p:pic>
          <p:nvPicPr>
            <p:cNvPr id="58" name="Picture 2" descr="Claude Code Handbook">
              <a:extLst>
                <a:ext uri="{FF2B5EF4-FFF2-40B4-BE49-F238E27FC236}">
                  <a16:creationId xmlns:a16="http://schemas.microsoft.com/office/drawing/2014/main" id="{7E33C6B3-9F40-38EA-CD15-687E89FF01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0755" y="4145576"/>
              <a:ext cx="257350" cy="25735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4" descr="Cursor AI Logo Icon for Modern Designs">
              <a:extLst>
                <a:ext uri="{FF2B5EF4-FFF2-40B4-BE49-F238E27FC236}">
                  <a16:creationId xmlns:a16="http://schemas.microsoft.com/office/drawing/2014/main" id="{4A36A50E-81F9-E713-B301-52D6787A90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6089" y="4110321"/>
              <a:ext cx="319381" cy="319381"/>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8" descr="OpenAI logos &amp; Chatgpt icons | AI.LS">
              <a:extLst>
                <a:ext uri="{FF2B5EF4-FFF2-40B4-BE49-F238E27FC236}">
                  <a16:creationId xmlns:a16="http://schemas.microsoft.com/office/drawing/2014/main" id="{38C5C1F8-787A-63BA-031C-C19F69744B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1702" y="4119465"/>
              <a:ext cx="292608" cy="292608"/>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0" descr="Vercel - Additions | Krater">
              <a:extLst>
                <a:ext uri="{FF2B5EF4-FFF2-40B4-BE49-F238E27FC236}">
                  <a16:creationId xmlns:a16="http://schemas.microsoft.com/office/drawing/2014/main" id="{4F7906C9-B46C-078C-B3B1-D4B99905BD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68764" y="2455240"/>
              <a:ext cx="354402" cy="354402"/>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a:extLst>
                <a:ext uri="{FF2B5EF4-FFF2-40B4-BE49-F238E27FC236}">
                  <a16:creationId xmlns:a16="http://schemas.microsoft.com/office/drawing/2014/main" id="{B29BD7FD-B37C-5EC1-C092-165AF2ED7846}"/>
                </a:ext>
              </a:extLst>
            </p:cNvPr>
            <p:cNvPicPr>
              <a:picLocks noChangeAspect="1"/>
            </p:cNvPicPr>
            <p:nvPr/>
          </p:nvPicPr>
          <p:blipFill>
            <a:blip r:embed="rId7"/>
            <a:stretch>
              <a:fillRect/>
            </a:stretch>
          </p:blipFill>
          <p:spPr>
            <a:xfrm>
              <a:off x="6147506" y="2449076"/>
              <a:ext cx="927937" cy="325897"/>
            </a:xfrm>
            <a:prstGeom prst="roundRect">
              <a:avLst>
                <a:gd name="adj" fmla="val 8594"/>
              </a:avLst>
            </a:prstGeom>
            <a:solidFill>
              <a:srgbClr val="FFFFFF">
                <a:shade val="85000"/>
              </a:srgbClr>
            </a:solidFill>
            <a:ln>
              <a:noFill/>
            </a:ln>
            <a:effectLst/>
          </p:spPr>
        </p:pic>
        <p:pic>
          <p:nvPicPr>
            <p:cNvPr id="63" name="Picture 14" descr="AMD Logo PNG Vector (EPS) Free Download">
              <a:extLst>
                <a:ext uri="{FF2B5EF4-FFF2-40B4-BE49-F238E27FC236}">
                  <a16:creationId xmlns:a16="http://schemas.microsoft.com/office/drawing/2014/main" id="{E5A736BF-DC8D-E1AA-6F2E-9CCFE1427E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2830" y="1630407"/>
              <a:ext cx="861496" cy="861496"/>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itle 1">
            <a:extLst>
              <a:ext uri="{FF2B5EF4-FFF2-40B4-BE49-F238E27FC236}">
                <a16:creationId xmlns:a16="http://schemas.microsoft.com/office/drawing/2014/main" id="{A97EB754-0930-46FA-8414-D186ED88EBAF}"/>
              </a:ext>
            </a:extLst>
          </p:cNvPr>
          <p:cNvSpPr>
            <a:spLocks noGrp="1"/>
          </p:cNvSpPr>
          <p:nvPr>
            <p:ph type="title"/>
          </p:nvPr>
        </p:nvSpPr>
        <p:spPr>
          <a:xfrm>
            <a:off x="395464" y="500615"/>
            <a:ext cx="11018520" cy="430887"/>
          </a:xfrm>
        </p:spPr>
        <p:txBody>
          <a:bodyPr/>
          <a:lstStyle/>
          <a:p>
            <a:r>
              <a:rPr lang="en-US">
                <a:latin typeface="Calibri" panose="020F0502020204030204" pitchFamily="34" charset="0"/>
                <a:ea typeface="Calibri" panose="020F0502020204030204" pitchFamily="34" charset="0"/>
                <a:cs typeface="Calibri" panose="020F0502020204030204" pitchFamily="34" charset="0"/>
              </a:rPr>
              <a:t>AMD Skills – Different ways of getting access</a:t>
            </a:r>
          </a:p>
        </p:txBody>
      </p:sp>
      <p:sp>
        <p:nvSpPr>
          <p:cNvPr id="6" name="Text 0">
            <a:extLst>
              <a:ext uri="{FF2B5EF4-FFF2-40B4-BE49-F238E27FC236}">
                <a16:creationId xmlns:a16="http://schemas.microsoft.com/office/drawing/2014/main" id="{8B449A8E-3EC9-D9E1-037A-63648F8A2E0B}"/>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pic>
        <p:nvPicPr>
          <p:cNvPr id="8" name="Picture 7">
            <a:extLst>
              <a:ext uri="{FF2B5EF4-FFF2-40B4-BE49-F238E27FC236}">
                <a16:creationId xmlns:a16="http://schemas.microsoft.com/office/drawing/2014/main" id="{20F077C3-7E80-0953-009E-64C6E2830E64}"/>
              </a:ext>
            </a:extLst>
          </p:cNvPr>
          <p:cNvPicPr>
            <a:picLocks noChangeAspect="1"/>
          </p:cNvPicPr>
          <p:nvPr/>
        </p:nvPicPr>
        <p:blipFill>
          <a:blip r:embed="rId9"/>
          <a:stretch>
            <a:fillRect/>
          </a:stretch>
        </p:blipFill>
        <p:spPr>
          <a:xfrm>
            <a:off x="10441782" y="5200585"/>
            <a:ext cx="1553498" cy="1553498"/>
          </a:xfrm>
          <a:prstGeom prst="rect">
            <a:avLst/>
          </a:prstGeom>
        </p:spPr>
      </p:pic>
    </p:spTree>
    <p:extLst>
      <p:ext uri="{BB962C8B-B14F-4D97-AF65-F5344CB8AC3E}">
        <p14:creationId xmlns:p14="http://schemas.microsoft.com/office/powerpoint/2010/main" val="193726988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4">
            <a:extLst>
              <a:ext uri="{FF2B5EF4-FFF2-40B4-BE49-F238E27FC236}">
                <a16:creationId xmlns:a16="http://schemas.microsoft.com/office/drawing/2014/main" id="{729ED25D-3A9A-14C5-F4A6-C1C9639EE3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394" y="1285283"/>
            <a:ext cx="7221707" cy="5072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05E420B-DB9C-28BA-48B0-F9570A57B1C9}"/>
              </a:ext>
            </a:extLst>
          </p:cNvPr>
          <p:cNvSpPr txBox="1"/>
          <p:nvPr/>
        </p:nvSpPr>
        <p:spPr>
          <a:xfrm>
            <a:off x="327823" y="3003306"/>
            <a:ext cx="2464613" cy="954107"/>
          </a:xfrm>
          <a:prstGeom prst="rect">
            <a:avLst/>
          </a:prstGeom>
          <a:noFill/>
        </p:spPr>
        <p:txBody>
          <a:bodyPr wrap="square">
            <a:spAutoFit/>
          </a:bodyPr>
          <a:lstStyle/>
          <a:p>
            <a:pPr algn="ctr"/>
            <a:br>
              <a:rPr lang="en-US" sz="1400">
                <a:effectLst/>
                <a:latin typeface="Aptos" panose="020B0004020202020204" pitchFamily="34" charset="0"/>
                <a:ea typeface="Aptos" panose="020B0004020202020204" pitchFamily="34" charset="0"/>
                <a:cs typeface="Aptos" panose="020B0004020202020204" pitchFamily="34" charset="0"/>
              </a:rPr>
            </a:br>
            <a:r>
              <a:rPr lang="en-US" sz="1400">
                <a:effectLst/>
                <a:latin typeface="Aptos" panose="020B0004020202020204" pitchFamily="34" charset="0"/>
                <a:ea typeface="Aptos" panose="020B0004020202020204" pitchFamily="34" charset="0"/>
                <a:cs typeface="Aptos" panose="020B0004020202020204" pitchFamily="34" charset="0"/>
              </a:rPr>
              <a:t>Available natively on the Codex app under Plugins. </a:t>
            </a:r>
            <a:r>
              <a:rPr lang="en-US" sz="1400">
                <a:latin typeface="Aptos" panose="020B0004020202020204" pitchFamily="34" charset="0"/>
                <a:ea typeface="Aptos" panose="020B0004020202020204" pitchFamily="34" charset="0"/>
                <a:cs typeface="Aptos" panose="020B0004020202020204" pitchFamily="34" charset="0"/>
              </a:rPr>
              <a:t>C</a:t>
            </a:r>
            <a:r>
              <a:rPr lang="en-US" sz="1400">
                <a:effectLst/>
                <a:latin typeface="Aptos" panose="020B0004020202020204" pitchFamily="34" charset="0"/>
                <a:ea typeface="Aptos" panose="020B0004020202020204" pitchFamily="34" charset="0"/>
                <a:cs typeface="Aptos" panose="020B0004020202020204" pitchFamily="34" charset="0"/>
              </a:rPr>
              <a:t>lick </a:t>
            </a:r>
            <a:r>
              <a:rPr lang="en-US" sz="1400">
                <a:solidFill>
                  <a:srgbClr val="E97039"/>
                </a:solidFill>
                <a:effectLst/>
                <a:latin typeface="Consolas" panose="020B0609020204030204" pitchFamily="49" charset="0"/>
                <a:ea typeface="Aptos" panose="020B0004020202020204" pitchFamily="34" charset="0"/>
                <a:cs typeface="Aptos" panose="020B0004020202020204" pitchFamily="34" charset="0"/>
              </a:rPr>
              <a:t>Try now </a:t>
            </a:r>
            <a:r>
              <a:rPr lang="en-US" sz="1400">
                <a:effectLst/>
                <a:latin typeface="Aptos" panose="020B0004020202020204" pitchFamily="34" charset="0"/>
                <a:ea typeface="Aptos" panose="020B0004020202020204" pitchFamily="34" charset="0"/>
                <a:cs typeface="Aptos" panose="020B0004020202020204" pitchFamily="34" charset="0"/>
              </a:rPr>
              <a:t>to get started.</a:t>
            </a:r>
            <a:endParaRPr lang="en-US" sz="1800"/>
          </a:p>
        </p:txBody>
      </p:sp>
      <p:sp>
        <p:nvSpPr>
          <p:cNvPr id="10" name="Title 1">
            <a:extLst>
              <a:ext uri="{FF2B5EF4-FFF2-40B4-BE49-F238E27FC236}">
                <a16:creationId xmlns:a16="http://schemas.microsoft.com/office/drawing/2014/main" id="{D2D7B5F0-9354-FA47-4893-CCDB25A6645D}"/>
              </a:ext>
            </a:extLst>
          </p:cNvPr>
          <p:cNvSpPr>
            <a:spLocks noGrp="1"/>
          </p:cNvSpPr>
          <p:nvPr>
            <p:ph type="title"/>
          </p:nvPr>
        </p:nvSpPr>
        <p:spPr>
          <a:xfrm>
            <a:off x="395464" y="500615"/>
            <a:ext cx="11018520" cy="430887"/>
          </a:xfrm>
        </p:spPr>
        <p:txBody>
          <a:bodyPr/>
          <a:lstStyle/>
          <a:p>
            <a:r>
              <a:rPr lang="en-US">
                <a:latin typeface="Calibri" panose="020F0502020204030204" pitchFamily="34" charset="0"/>
                <a:ea typeface="Calibri" panose="020F0502020204030204" pitchFamily="34" charset="0"/>
                <a:cs typeface="Calibri" panose="020F0502020204030204" pitchFamily="34" charset="0"/>
              </a:rPr>
              <a:t>AMD Skills – Installing on Codex</a:t>
            </a:r>
          </a:p>
        </p:txBody>
      </p:sp>
      <p:sp>
        <p:nvSpPr>
          <p:cNvPr id="11" name="Text 0">
            <a:extLst>
              <a:ext uri="{FF2B5EF4-FFF2-40B4-BE49-F238E27FC236}">
                <a16:creationId xmlns:a16="http://schemas.microsoft.com/office/drawing/2014/main" id="{12FC7B2A-6FE8-B317-2C73-C5C1F8087EE9}"/>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spTree>
    <p:extLst>
      <p:ext uri="{BB962C8B-B14F-4D97-AF65-F5344CB8AC3E}">
        <p14:creationId xmlns:p14="http://schemas.microsoft.com/office/powerpoint/2010/main" val="250323492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68DA0-73EA-254A-7CD6-C873901F2A35}"/>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A7040955-A771-B590-EE31-66FEDE6219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46923" y="1835834"/>
            <a:ext cx="7463817" cy="3872268"/>
          </a:xfrm>
          <a:prstGeom prst="rect">
            <a:avLst/>
          </a:prstGeom>
          <a:solidFill>
            <a:srgbClr val="FFFFFF">
              <a:shade val="85000"/>
            </a:srgbClr>
          </a:solidFill>
          <a:ln w="9525">
            <a:solidFill>
              <a:srgbClr val="000000"/>
            </a:solidFill>
            <a:miter lim="800000"/>
            <a:headEnd/>
            <a:tailEnd/>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3" name="TextBox 2">
            <a:extLst>
              <a:ext uri="{FF2B5EF4-FFF2-40B4-BE49-F238E27FC236}">
                <a16:creationId xmlns:a16="http://schemas.microsoft.com/office/drawing/2014/main" id="{8A18280F-EBC7-AB56-3C70-78DAF592F01D}"/>
              </a:ext>
            </a:extLst>
          </p:cNvPr>
          <p:cNvSpPr txBox="1"/>
          <p:nvPr/>
        </p:nvSpPr>
        <p:spPr>
          <a:xfrm>
            <a:off x="381260" y="3071522"/>
            <a:ext cx="3458156" cy="954107"/>
          </a:xfrm>
          <a:prstGeom prst="rect">
            <a:avLst/>
          </a:prstGeom>
          <a:noFill/>
        </p:spPr>
        <p:txBody>
          <a:bodyPr wrap="square">
            <a:spAutoFit/>
          </a:bodyPr>
          <a:lstStyle/>
          <a:p>
            <a:pPr algn="ctr"/>
            <a:br>
              <a:rPr lang="en-US" sz="1400">
                <a:effectLst/>
                <a:latin typeface="Aptos" panose="020B0004020202020204" pitchFamily="34" charset="0"/>
                <a:ea typeface="Aptos" panose="020B0004020202020204" pitchFamily="34" charset="0"/>
                <a:cs typeface="Aptos" panose="020B0004020202020204" pitchFamily="34" charset="0"/>
              </a:rPr>
            </a:br>
            <a:r>
              <a:rPr lang="en-US" sz="1400">
                <a:effectLst/>
                <a:latin typeface="Aptos" panose="020B0004020202020204" pitchFamily="34" charset="0"/>
                <a:ea typeface="Aptos" panose="020B0004020202020204" pitchFamily="34" charset="0"/>
                <a:cs typeface="Aptos" panose="020B0004020202020204" pitchFamily="34" charset="0"/>
              </a:rPr>
              <a:t>Simply open Claude, type </a:t>
            </a:r>
            <a:r>
              <a:rPr lang="en-US" sz="1400">
                <a:solidFill>
                  <a:srgbClr val="E97039"/>
                </a:solidFill>
                <a:effectLst/>
                <a:latin typeface="Consolas" panose="020B0609020204030204" pitchFamily="49" charset="0"/>
                <a:ea typeface="Aptos" panose="020B0004020202020204" pitchFamily="34" charset="0"/>
                <a:cs typeface="Aptos" panose="020B0004020202020204" pitchFamily="34" charset="0"/>
              </a:rPr>
              <a:t>plugins</a:t>
            </a:r>
            <a:r>
              <a:rPr lang="en-US" sz="1400">
                <a:effectLst/>
                <a:latin typeface="Aptos" panose="020B0004020202020204" pitchFamily="34" charset="0"/>
                <a:ea typeface="Aptos" panose="020B0004020202020204" pitchFamily="34" charset="0"/>
                <a:cs typeface="Aptos" panose="020B0004020202020204" pitchFamily="34" charset="0"/>
              </a:rPr>
              <a:t> and look for </a:t>
            </a:r>
            <a:r>
              <a:rPr lang="en-US" sz="1400">
                <a:solidFill>
                  <a:srgbClr val="E97039"/>
                </a:solidFill>
                <a:effectLst/>
                <a:latin typeface="Consolas" panose="020B0609020204030204" pitchFamily="49" charset="0"/>
                <a:ea typeface="Aptos" panose="020B0004020202020204" pitchFamily="34" charset="0"/>
                <a:cs typeface="Aptos" panose="020B0004020202020204" pitchFamily="34" charset="0"/>
              </a:rPr>
              <a:t>amd-skills</a:t>
            </a:r>
            <a:r>
              <a:rPr lang="en-US" sz="1400">
                <a:effectLst/>
                <a:latin typeface="Aptos" panose="020B0004020202020204" pitchFamily="34" charset="0"/>
                <a:ea typeface="Aptos" panose="020B0004020202020204" pitchFamily="34" charset="0"/>
                <a:cs typeface="Aptos" panose="020B0004020202020204" pitchFamily="34" charset="0"/>
              </a:rPr>
              <a:t> on the </a:t>
            </a:r>
            <a:r>
              <a:rPr lang="en-US" sz="1400">
                <a:solidFill>
                  <a:srgbClr val="E97039"/>
                </a:solidFill>
                <a:effectLst/>
                <a:latin typeface="Consolas" panose="020B0609020204030204" pitchFamily="49" charset="0"/>
                <a:ea typeface="Aptos" panose="020B0004020202020204" pitchFamily="34" charset="0"/>
                <a:cs typeface="Aptos" panose="020B0004020202020204" pitchFamily="34" charset="0"/>
              </a:rPr>
              <a:t>discover</a:t>
            </a:r>
            <a:r>
              <a:rPr lang="en-US" sz="1400">
                <a:effectLst/>
                <a:latin typeface="Aptos" panose="020B0004020202020204" pitchFamily="34" charset="0"/>
                <a:ea typeface="Aptos" panose="020B0004020202020204" pitchFamily="34" charset="0"/>
                <a:cs typeface="Aptos" panose="020B0004020202020204" pitchFamily="34" charset="0"/>
              </a:rPr>
              <a:t> tab. You may need to update your marketplace.</a:t>
            </a:r>
            <a:endParaRPr lang="en-US" sz="2000"/>
          </a:p>
        </p:txBody>
      </p:sp>
      <p:sp>
        <p:nvSpPr>
          <p:cNvPr id="6" name="Title 1">
            <a:extLst>
              <a:ext uri="{FF2B5EF4-FFF2-40B4-BE49-F238E27FC236}">
                <a16:creationId xmlns:a16="http://schemas.microsoft.com/office/drawing/2014/main" id="{22DF07D6-E93E-779F-1B03-DB0FE6609AD4}"/>
              </a:ext>
            </a:extLst>
          </p:cNvPr>
          <p:cNvSpPr>
            <a:spLocks noGrp="1"/>
          </p:cNvSpPr>
          <p:nvPr>
            <p:ph type="title"/>
          </p:nvPr>
        </p:nvSpPr>
        <p:spPr>
          <a:xfrm>
            <a:off x="395464" y="500615"/>
            <a:ext cx="11018520" cy="430887"/>
          </a:xfrm>
        </p:spPr>
        <p:txBody>
          <a:bodyPr/>
          <a:lstStyle/>
          <a:p>
            <a:r>
              <a:rPr lang="en-US">
                <a:latin typeface="Calibri" panose="020F0502020204030204" pitchFamily="34" charset="0"/>
                <a:ea typeface="Calibri" panose="020F0502020204030204" pitchFamily="34" charset="0"/>
                <a:cs typeface="Calibri" panose="020F0502020204030204" pitchFamily="34" charset="0"/>
              </a:rPr>
              <a:t>AMD Skills – Installing on Claude</a:t>
            </a:r>
          </a:p>
        </p:txBody>
      </p:sp>
      <p:sp>
        <p:nvSpPr>
          <p:cNvPr id="7" name="Text 0">
            <a:extLst>
              <a:ext uri="{FF2B5EF4-FFF2-40B4-BE49-F238E27FC236}">
                <a16:creationId xmlns:a16="http://schemas.microsoft.com/office/drawing/2014/main" id="{CA9CF046-8CCF-02F7-5160-23FA55F8F8A6}"/>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spTree>
    <p:extLst>
      <p:ext uri="{BB962C8B-B14F-4D97-AF65-F5344CB8AC3E}">
        <p14:creationId xmlns:p14="http://schemas.microsoft.com/office/powerpoint/2010/main" val="260094508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EC113-E6E3-DDDD-4AD1-115B34EB9761}"/>
            </a:ext>
          </a:extLst>
        </p:cNvPr>
        <p:cNvGrpSpPr/>
        <p:nvPr/>
      </p:nvGrpSpPr>
      <p:grpSpPr>
        <a:xfrm>
          <a:off x="0" y="0"/>
          <a:ext cx="0" cy="0"/>
          <a:chOff x="0" y="0"/>
          <a:chExt cx="0" cy="0"/>
        </a:xfrm>
      </p:grpSpPr>
      <p:pic>
        <p:nvPicPr>
          <p:cNvPr id="2050" name="Picture 1">
            <a:extLst>
              <a:ext uri="{FF2B5EF4-FFF2-40B4-BE49-F238E27FC236}">
                <a16:creationId xmlns:a16="http://schemas.microsoft.com/office/drawing/2014/main" id="{4DC46794-AA82-B402-1FF3-2D53BC1DC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7798" y="1244991"/>
            <a:ext cx="7751054" cy="4854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896098E1-876B-BFFF-10F2-BCD8226D3E93}"/>
              </a:ext>
            </a:extLst>
          </p:cNvPr>
          <p:cNvSpPr txBox="1"/>
          <p:nvPr/>
        </p:nvSpPr>
        <p:spPr>
          <a:xfrm>
            <a:off x="395464" y="2844224"/>
            <a:ext cx="3250773" cy="954107"/>
          </a:xfrm>
          <a:prstGeom prst="rect">
            <a:avLst/>
          </a:prstGeom>
          <a:noFill/>
        </p:spPr>
        <p:txBody>
          <a:bodyPr wrap="square">
            <a:spAutoFit/>
          </a:bodyPr>
          <a:lstStyle/>
          <a:p>
            <a:pPr algn="ctr"/>
            <a:br>
              <a:rPr lang="en-US" sz="1400">
                <a:effectLst/>
                <a:latin typeface="Aptos" panose="020B0004020202020204" pitchFamily="34" charset="0"/>
                <a:ea typeface="Aptos" panose="020B0004020202020204" pitchFamily="34" charset="0"/>
                <a:cs typeface="Aptos" panose="020B0004020202020204" pitchFamily="34" charset="0"/>
              </a:rPr>
            </a:br>
            <a:r>
              <a:rPr lang="en-US" sz="1400">
                <a:effectLst/>
                <a:latin typeface="Aptos" panose="020B0004020202020204" pitchFamily="34" charset="0"/>
                <a:ea typeface="Aptos" panose="020B0004020202020204" pitchFamily="34" charset="0"/>
                <a:cs typeface="Aptos" panose="020B0004020202020204" pitchFamily="34" charset="0"/>
              </a:rPr>
              <a:t>Available worldwide on </a:t>
            </a:r>
            <a:r>
              <a:rPr lang="en-US" sz="1400" u="sng">
                <a:solidFill>
                  <a:srgbClr val="467886"/>
                </a:solidFill>
                <a:effectLst/>
                <a:latin typeface="Aptos" panose="020B0004020202020204" pitchFamily="34" charset="0"/>
                <a:ea typeface="Aptos" panose="020B0004020202020204" pitchFamily="34" charset="0"/>
                <a:cs typeface="Aptos" panose="020B0004020202020204" pitchFamily="34" charset="0"/>
                <a:hlinkClick r:id="rId3"/>
              </a:rPr>
              <a:t>cursor.com/marketplace/amd</a:t>
            </a:r>
            <a:r>
              <a:rPr lang="en-US" sz="1400">
                <a:effectLst/>
                <a:latin typeface="Aptos" panose="020B0004020202020204" pitchFamily="34" charset="0"/>
                <a:ea typeface="Aptos" panose="020B0004020202020204" pitchFamily="34" charset="0"/>
                <a:cs typeface="Aptos" panose="020B0004020202020204" pitchFamily="34" charset="0"/>
              </a:rPr>
              <a:t>.</a:t>
            </a:r>
          </a:p>
          <a:p>
            <a:pPr algn="ctr"/>
            <a:r>
              <a:rPr lang="en-US" sz="1400">
                <a:latin typeface="Aptos" panose="020B0004020202020204" pitchFamily="34" charset="0"/>
                <a:ea typeface="Aptos" panose="020B0004020202020204" pitchFamily="34" charset="0"/>
                <a:cs typeface="Aptos" panose="020B0004020202020204" pitchFamily="34" charset="0"/>
              </a:rPr>
              <a:t>C</a:t>
            </a:r>
            <a:r>
              <a:rPr lang="en-US" sz="1400">
                <a:effectLst/>
                <a:latin typeface="Aptos" panose="020B0004020202020204" pitchFamily="34" charset="0"/>
                <a:ea typeface="Aptos" panose="020B0004020202020204" pitchFamily="34" charset="0"/>
                <a:cs typeface="Aptos" panose="020B0004020202020204" pitchFamily="34" charset="0"/>
              </a:rPr>
              <a:t>lick on  </a:t>
            </a:r>
            <a:r>
              <a:rPr lang="en-US" sz="1400">
                <a:solidFill>
                  <a:srgbClr val="E97039"/>
                </a:solidFill>
                <a:effectLst/>
                <a:latin typeface="Consolas" panose="020B0609020204030204" pitchFamily="49" charset="0"/>
                <a:ea typeface="Aptos" panose="020B0004020202020204" pitchFamily="34" charset="0"/>
                <a:cs typeface="Aptos" panose="020B0004020202020204" pitchFamily="34" charset="0"/>
              </a:rPr>
              <a:t>Add to Cursor </a:t>
            </a:r>
            <a:endParaRPr lang="en-US" sz="1400">
              <a:solidFill>
                <a:srgbClr val="E97039"/>
              </a:solidFill>
              <a:latin typeface="Consolas" panose="020B0609020204030204" pitchFamily="49" charset="0"/>
            </a:endParaRPr>
          </a:p>
        </p:txBody>
      </p:sp>
      <p:sp>
        <p:nvSpPr>
          <p:cNvPr id="6" name="Title 1">
            <a:extLst>
              <a:ext uri="{FF2B5EF4-FFF2-40B4-BE49-F238E27FC236}">
                <a16:creationId xmlns:a16="http://schemas.microsoft.com/office/drawing/2014/main" id="{6C31EFFE-3C68-E5FF-5C0B-FB54C37C18BE}"/>
              </a:ext>
            </a:extLst>
          </p:cNvPr>
          <p:cNvSpPr txBox="1">
            <a:spLocks/>
          </p:cNvSpPr>
          <p:nvPr/>
        </p:nvSpPr>
        <p:spPr>
          <a:xfrm>
            <a:off x="395464" y="500615"/>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Calibri" panose="020F0502020204030204" pitchFamily="34" charset="0"/>
                <a:ea typeface="Calibri" panose="020F0502020204030204" pitchFamily="34" charset="0"/>
                <a:cs typeface="Calibri" panose="020F0502020204030204" pitchFamily="34" charset="0"/>
              </a:rPr>
              <a:t>AMD Skills – Installing on Cursor</a:t>
            </a:r>
          </a:p>
        </p:txBody>
      </p:sp>
      <p:sp>
        <p:nvSpPr>
          <p:cNvPr id="7" name="Text 0">
            <a:extLst>
              <a:ext uri="{FF2B5EF4-FFF2-40B4-BE49-F238E27FC236}">
                <a16:creationId xmlns:a16="http://schemas.microsoft.com/office/drawing/2014/main" id="{F76D0358-0D0F-0B96-8843-71813091C90B}"/>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spTree>
    <p:extLst>
      <p:ext uri="{BB962C8B-B14F-4D97-AF65-F5344CB8AC3E}">
        <p14:creationId xmlns:p14="http://schemas.microsoft.com/office/powerpoint/2010/main" val="225126518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11BF9-12EF-9112-5554-C21A55D08C5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573A760A-B509-B324-53B2-730738EFDCF8}"/>
              </a:ext>
            </a:extLst>
          </p:cNvPr>
          <p:cNvSpPr txBox="1">
            <a:spLocks/>
          </p:cNvSpPr>
          <p:nvPr/>
        </p:nvSpPr>
        <p:spPr>
          <a:xfrm>
            <a:off x="395464" y="500615"/>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Calibri" panose="020F0502020204030204" pitchFamily="34" charset="0"/>
                <a:ea typeface="Calibri" panose="020F0502020204030204" pitchFamily="34" charset="0"/>
                <a:cs typeface="Calibri" panose="020F0502020204030204" pitchFamily="34" charset="0"/>
              </a:rPr>
              <a:t>AMD Skills – Installing using npx</a:t>
            </a:r>
          </a:p>
        </p:txBody>
      </p:sp>
      <p:sp>
        <p:nvSpPr>
          <p:cNvPr id="7" name="Text 0">
            <a:extLst>
              <a:ext uri="{FF2B5EF4-FFF2-40B4-BE49-F238E27FC236}">
                <a16:creationId xmlns:a16="http://schemas.microsoft.com/office/drawing/2014/main" id="{A1685B2A-E277-AFA7-91FA-4FC95C906A1D}"/>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pic>
        <p:nvPicPr>
          <p:cNvPr id="8" name="Picture 7">
            <a:extLst>
              <a:ext uri="{FF2B5EF4-FFF2-40B4-BE49-F238E27FC236}">
                <a16:creationId xmlns:a16="http://schemas.microsoft.com/office/drawing/2014/main" id="{BCBF63B3-4EB6-C3ED-DEB7-D4178DF2AE88}"/>
              </a:ext>
            </a:extLst>
          </p:cNvPr>
          <p:cNvPicPr>
            <a:picLocks noChangeAspect="1"/>
          </p:cNvPicPr>
          <p:nvPr/>
        </p:nvPicPr>
        <p:blipFill>
          <a:blip r:embed="rId2"/>
          <a:stretch>
            <a:fillRect/>
          </a:stretch>
        </p:blipFill>
        <p:spPr>
          <a:xfrm>
            <a:off x="6836287" y="1250769"/>
            <a:ext cx="5007370" cy="4878976"/>
          </a:xfrm>
          <a:prstGeom prst="rect">
            <a:avLst/>
          </a:prstGeom>
        </p:spPr>
      </p:pic>
      <p:pic>
        <p:nvPicPr>
          <p:cNvPr id="10" name="Picture 9">
            <a:extLst>
              <a:ext uri="{FF2B5EF4-FFF2-40B4-BE49-F238E27FC236}">
                <a16:creationId xmlns:a16="http://schemas.microsoft.com/office/drawing/2014/main" id="{D4060808-9C92-70DB-9C5A-2B136CAC3BB2}"/>
              </a:ext>
            </a:extLst>
          </p:cNvPr>
          <p:cNvPicPr>
            <a:picLocks noChangeAspect="1"/>
          </p:cNvPicPr>
          <p:nvPr/>
        </p:nvPicPr>
        <p:blipFill>
          <a:blip r:embed="rId3"/>
          <a:stretch>
            <a:fillRect/>
          </a:stretch>
        </p:blipFill>
        <p:spPr>
          <a:xfrm>
            <a:off x="618361" y="1499918"/>
            <a:ext cx="5477639" cy="3858163"/>
          </a:xfrm>
          <a:prstGeom prst="rect">
            <a:avLst/>
          </a:prstGeom>
        </p:spPr>
      </p:pic>
    </p:spTree>
    <p:extLst>
      <p:ext uri="{BB962C8B-B14F-4D97-AF65-F5344CB8AC3E}">
        <p14:creationId xmlns:p14="http://schemas.microsoft.com/office/powerpoint/2010/main" val="36252563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1AC03-B3F9-BE76-6B7D-CD935275982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FDFD116-FF30-C4E5-E1F9-C3134282C26B}"/>
              </a:ext>
            </a:extLst>
          </p:cNvPr>
          <p:cNvSpPr txBox="1">
            <a:spLocks/>
          </p:cNvSpPr>
          <p:nvPr/>
        </p:nvSpPr>
        <p:spPr>
          <a:xfrm>
            <a:off x="395464" y="500615"/>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Calibri" panose="020F0502020204030204" pitchFamily="34" charset="0"/>
                <a:ea typeface="Calibri" panose="020F0502020204030204" pitchFamily="34" charset="0"/>
                <a:cs typeface="Calibri" panose="020F0502020204030204" pitchFamily="34" charset="0"/>
              </a:rPr>
              <a:t>AMD Skills Demos – Local AI Use</a:t>
            </a:r>
          </a:p>
        </p:txBody>
      </p:sp>
      <p:sp>
        <p:nvSpPr>
          <p:cNvPr id="7" name="Text 0">
            <a:extLst>
              <a:ext uri="{FF2B5EF4-FFF2-40B4-BE49-F238E27FC236}">
                <a16:creationId xmlns:a16="http://schemas.microsoft.com/office/drawing/2014/main" id="{7FF111CA-6D75-EB26-B23D-314C2C93022F}"/>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pic>
        <p:nvPicPr>
          <p:cNvPr id="6" name="Picture 5">
            <a:extLst>
              <a:ext uri="{FF2B5EF4-FFF2-40B4-BE49-F238E27FC236}">
                <a16:creationId xmlns:a16="http://schemas.microsoft.com/office/drawing/2014/main" id="{351C8C33-3EAD-8EA2-A5FA-5AB494BA2504}"/>
              </a:ext>
            </a:extLst>
          </p:cNvPr>
          <p:cNvPicPr>
            <a:picLocks noChangeAspect="1"/>
          </p:cNvPicPr>
          <p:nvPr/>
        </p:nvPicPr>
        <p:blipFill>
          <a:blip r:embed="rId7"/>
          <a:srcRect b="45678"/>
          <a:stretch>
            <a:fillRect/>
          </a:stretch>
        </p:blipFill>
        <p:spPr>
          <a:xfrm>
            <a:off x="574766" y="1010433"/>
            <a:ext cx="5050970" cy="1555221"/>
          </a:xfrm>
          <a:prstGeom prst="rect">
            <a:avLst/>
          </a:prstGeom>
        </p:spPr>
      </p:pic>
      <p:pic>
        <p:nvPicPr>
          <p:cNvPr id="9" name="Picture 8">
            <a:extLst>
              <a:ext uri="{FF2B5EF4-FFF2-40B4-BE49-F238E27FC236}">
                <a16:creationId xmlns:a16="http://schemas.microsoft.com/office/drawing/2014/main" id="{6D478A31-97DC-D7B2-95A1-D5118A2F1A36}"/>
              </a:ext>
            </a:extLst>
          </p:cNvPr>
          <p:cNvPicPr>
            <a:picLocks noChangeAspect="1"/>
          </p:cNvPicPr>
          <p:nvPr/>
        </p:nvPicPr>
        <p:blipFill>
          <a:blip r:embed="rId7"/>
          <a:srcRect t="78005"/>
          <a:stretch>
            <a:fillRect/>
          </a:stretch>
        </p:blipFill>
        <p:spPr>
          <a:xfrm>
            <a:off x="574767" y="2619368"/>
            <a:ext cx="5050970" cy="629708"/>
          </a:xfrm>
          <a:prstGeom prst="rect">
            <a:avLst/>
          </a:prstGeom>
        </p:spPr>
      </p:pic>
      <p:pic>
        <p:nvPicPr>
          <p:cNvPr id="14" name="Picture 13">
            <a:extLst>
              <a:ext uri="{FF2B5EF4-FFF2-40B4-BE49-F238E27FC236}">
                <a16:creationId xmlns:a16="http://schemas.microsoft.com/office/drawing/2014/main" id="{18A9EDBF-FB6F-8CD0-E162-F8414840FF0D}"/>
              </a:ext>
            </a:extLst>
          </p:cNvPr>
          <p:cNvPicPr>
            <a:picLocks noChangeAspect="1"/>
          </p:cNvPicPr>
          <p:nvPr/>
        </p:nvPicPr>
        <p:blipFill>
          <a:blip r:embed="rId8"/>
          <a:stretch>
            <a:fillRect/>
          </a:stretch>
        </p:blipFill>
        <p:spPr>
          <a:xfrm>
            <a:off x="2226309" y="4847174"/>
            <a:ext cx="1811383" cy="1811383"/>
          </a:xfrm>
          <a:prstGeom prst="rect">
            <a:avLst/>
          </a:prstGeom>
        </p:spPr>
      </p:pic>
      <p:cxnSp>
        <p:nvCxnSpPr>
          <p:cNvPr id="15" name="Straight Connector 14">
            <a:extLst>
              <a:ext uri="{FF2B5EF4-FFF2-40B4-BE49-F238E27FC236}">
                <a16:creationId xmlns:a16="http://schemas.microsoft.com/office/drawing/2014/main" id="{2EF5A09E-2755-7B13-614B-8E47CB223F73}"/>
              </a:ext>
            </a:extLst>
          </p:cNvPr>
          <p:cNvCxnSpPr>
            <a:cxnSpLocks/>
          </p:cNvCxnSpPr>
          <p:nvPr/>
        </p:nvCxnSpPr>
        <p:spPr>
          <a:xfrm>
            <a:off x="757533" y="3224386"/>
            <a:ext cx="0" cy="200351"/>
          </a:xfrm>
          <a:prstGeom prst="line">
            <a:avLst/>
          </a:prstGeom>
          <a:ln>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18" name="TextBox 17">
            <a:extLst>
              <a:ext uri="{FF2B5EF4-FFF2-40B4-BE49-F238E27FC236}">
                <a16:creationId xmlns:a16="http://schemas.microsoft.com/office/drawing/2014/main" id="{9F6F403D-F6D6-DAAE-8D81-160B74F75DF0}"/>
              </a:ext>
            </a:extLst>
          </p:cNvPr>
          <p:cNvSpPr txBox="1"/>
          <p:nvPr/>
        </p:nvSpPr>
        <p:spPr>
          <a:xfrm>
            <a:off x="574766" y="3435292"/>
            <a:ext cx="6113416" cy="261610"/>
          </a:xfrm>
          <a:prstGeom prst="rect">
            <a:avLst/>
          </a:prstGeom>
          <a:noFill/>
        </p:spPr>
        <p:txBody>
          <a:bodyPr wrap="square">
            <a:spAutoFit/>
          </a:bodyPr>
          <a:lstStyle/>
          <a:p>
            <a:r>
              <a:rPr kumimoji="0" lang="en-US" sz="1100" i="0" u="none" strike="noStrike" kern="0" cap="none" spc="300" normalizeH="0" baseline="0" noProof="0">
                <a:ln>
                  <a:noFill/>
                </a:ln>
                <a:solidFill>
                  <a:srgbClr val="F6763C"/>
                </a:solidFill>
                <a:effectLst/>
                <a:uLnTx/>
                <a:uFillTx/>
                <a:latin typeface="Calibri"/>
                <a:ea typeface="Calibri"/>
                <a:cs typeface="Calibri"/>
              </a:rPr>
              <a:t>Agent installs local image generation SW</a:t>
            </a:r>
            <a:endParaRPr lang="en-US"/>
          </a:p>
        </p:txBody>
      </p:sp>
      <p:cxnSp>
        <p:nvCxnSpPr>
          <p:cNvPr id="20" name="Straight Connector 19">
            <a:extLst>
              <a:ext uri="{FF2B5EF4-FFF2-40B4-BE49-F238E27FC236}">
                <a16:creationId xmlns:a16="http://schemas.microsoft.com/office/drawing/2014/main" id="{16BA8B53-4DA9-DAB1-4732-6DA3F3B59AE9}"/>
              </a:ext>
            </a:extLst>
          </p:cNvPr>
          <p:cNvCxnSpPr>
            <a:cxnSpLocks/>
          </p:cNvCxnSpPr>
          <p:nvPr/>
        </p:nvCxnSpPr>
        <p:spPr>
          <a:xfrm>
            <a:off x="760468" y="3696902"/>
            <a:ext cx="0" cy="200351"/>
          </a:xfrm>
          <a:prstGeom prst="line">
            <a:avLst/>
          </a:prstGeom>
          <a:ln>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21" name="Straight Connector 20">
            <a:extLst>
              <a:ext uri="{FF2B5EF4-FFF2-40B4-BE49-F238E27FC236}">
                <a16:creationId xmlns:a16="http://schemas.microsoft.com/office/drawing/2014/main" id="{6ECB0F44-8BF2-3321-9A9B-C4DC88D49579}"/>
              </a:ext>
            </a:extLst>
          </p:cNvPr>
          <p:cNvCxnSpPr>
            <a:cxnSpLocks/>
          </p:cNvCxnSpPr>
          <p:nvPr/>
        </p:nvCxnSpPr>
        <p:spPr>
          <a:xfrm>
            <a:off x="757533" y="4330409"/>
            <a:ext cx="0" cy="200351"/>
          </a:xfrm>
          <a:prstGeom prst="line">
            <a:avLst/>
          </a:prstGeom>
          <a:ln>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3" name="TextBox 22">
            <a:extLst>
              <a:ext uri="{FF2B5EF4-FFF2-40B4-BE49-F238E27FC236}">
                <a16:creationId xmlns:a16="http://schemas.microsoft.com/office/drawing/2014/main" id="{26263460-6277-2EA7-F61D-D76EBA02E21E}"/>
              </a:ext>
            </a:extLst>
          </p:cNvPr>
          <p:cNvSpPr txBox="1"/>
          <p:nvPr/>
        </p:nvSpPr>
        <p:spPr>
          <a:xfrm>
            <a:off x="558675" y="4540525"/>
            <a:ext cx="6113416" cy="261610"/>
          </a:xfrm>
          <a:prstGeom prst="rect">
            <a:avLst/>
          </a:prstGeom>
          <a:noFill/>
        </p:spPr>
        <p:txBody>
          <a:bodyPr wrap="square">
            <a:spAutoFit/>
          </a:bodyPr>
          <a:lstStyle/>
          <a:p>
            <a:r>
              <a:rPr kumimoji="0" lang="en-US" sz="1100" i="0" u="none" strike="noStrike" kern="0" cap="none" spc="300" normalizeH="0" baseline="0" noProof="0">
                <a:ln>
                  <a:noFill/>
                </a:ln>
                <a:solidFill>
                  <a:srgbClr val="F6763C"/>
                </a:solidFill>
                <a:effectLst/>
                <a:uLnTx/>
                <a:uFillTx/>
                <a:latin typeface="Calibri"/>
                <a:ea typeface="Calibri"/>
                <a:cs typeface="Calibri"/>
              </a:rPr>
              <a:t>Cloud agent runs LLM + Local agent runs image generation</a:t>
            </a:r>
            <a:endParaRPr lang="en-US"/>
          </a:p>
        </p:txBody>
      </p:sp>
      <p:pic>
        <p:nvPicPr>
          <p:cNvPr id="24" name="Recording 2026-08-25 161136_2">
            <a:hlinkClick r:id="" action="ppaction://media"/>
            <a:extLst>
              <a:ext uri="{FF2B5EF4-FFF2-40B4-BE49-F238E27FC236}">
                <a16:creationId xmlns:a16="http://schemas.microsoft.com/office/drawing/2014/main" id="{25F9B687-8DC3-BEF4-0E1C-32B1514A0C96}"/>
              </a:ext>
            </a:extLst>
          </p:cNvPr>
          <p:cNvPicPr>
            <a:picLocks noChangeAspect="1"/>
          </p:cNvPicPr>
          <p:nvPr>
            <a:videoFile r:link="rId4"/>
            <p:extLst>
              <p:ext uri="{DAA4B4D4-6D71-4841-9C94-3DE7FCFB9230}">
                <p14:media xmlns:p14="http://schemas.microsoft.com/office/powerpoint/2010/main" r:embed="rId3"/>
              </p:ext>
            </p:extLst>
          </p:nvPr>
        </p:nvPicPr>
        <p:blipFill>
          <a:blip r:embed="rId9"/>
          <a:stretch>
            <a:fillRect/>
          </a:stretch>
        </p:blipFill>
        <p:spPr>
          <a:xfrm>
            <a:off x="7116891" y="796531"/>
            <a:ext cx="4516434" cy="5277522"/>
          </a:xfrm>
          <a:prstGeom prst="rect">
            <a:avLst/>
          </a:prstGeom>
        </p:spPr>
      </p:pic>
      <p:cxnSp>
        <p:nvCxnSpPr>
          <p:cNvPr id="28" name="Connector: Elbow 27">
            <a:extLst>
              <a:ext uri="{FF2B5EF4-FFF2-40B4-BE49-F238E27FC236}">
                <a16:creationId xmlns:a16="http://schemas.microsoft.com/office/drawing/2014/main" id="{562EE1F6-A3E0-768E-4B54-7FE088B6A6D7}"/>
              </a:ext>
            </a:extLst>
          </p:cNvPr>
          <p:cNvCxnSpPr>
            <a:cxnSpLocks/>
          </p:cNvCxnSpPr>
          <p:nvPr/>
        </p:nvCxnSpPr>
        <p:spPr>
          <a:xfrm>
            <a:off x="757533" y="4861035"/>
            <a:ext cx="1364705" cy="986532"/>
          </a:xfrm>
          <a:prstGeom prst="bentConnector3">
            <a:avLst>
              <a:gd name="adj1" fmla="val 226"/>
            </a:avLst>
          </a:prstGeom>
          <a:ln>
            <a:solidFill>
              <a:srgbClr val="F26522"/>
            </a:solidFill>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36" name="Picture 35">
            <a:extLst>
              <a:ext uri="{FF2B5EF4-FFF2-40B4-BE49-F238E27FC236}">
                <a16:creationId xmlns:a16="http://schemas.microsoft.com/office/drawing/2014/main" id="{B619887D-AA95-FB95-F645-4FAD7F4821DC}"/>
              </a:ext>
            </a:extLst>
          </p:cNvPr>
          <p:cNvPicPr>
            <a:picLocks noChangeAspect="1"/>
          </p:cNvPicPr>
          <p:nvPr/>
        </p:nvPicPr>
        <p:blipFill>
          <a:blip r:embed="rId10"/>
          <a:stretch>
            <a:fillRect/>
          </a:stretch>
        </p:blipFill>
        <p:spPr>
          <a:xfrm>
            <a:off x="574766" y="3911634"/>
            <a:ext cx="5050970" cy="397773"/>
          </a:xfrm>
          <a:prstGeom prst="rect">
            <a:avLst/>
          </a:prstGeom>
        </p:spPr>
      </p:pic>
    </p:spTree>
    <p:custDataLst>
      <p:custData r:id="rId1"/>
      <p:custData r:id="rId2"/>
    </p:custDataLst>
    <p:extLst>
      <p:ext uri="{BB962C8B-B14F-4D97-AF65-F5344CB8AC3E}">
        <p14:creationId xmlns:p14="http://schemas.microsoft.com/office/powerpoint/2010/main" val="5639659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173"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4"/>
                </p:tgtEl>
              </p:cMediaNode>
            </p:video>
            <p:seq concurrent="1" nextAc="seek">
              <p:cTn id="8" restart="whenNotActive" fill="hold" evtFilter="cancelBubble" nodeType="interactiveSeq">
                <p:stCondLst>
                  <p:cond evt="onClick" delay="0">
                    <p:tgtEl>
                      <p:spTgt spid="2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4"/>
                                        </p:tgtEl>
                                      </p:cBhvr>
                                    </p:cmd>
                                  </p:childTnLst>
                                </p:cTn>
                              </p:par>
                            </p:childTnLst>
                          </p:cTn>
                        </p:par>
                      </p:childTnLst>
                    </p:cTn>
                  </p:par>
                </p:childTnLst>
              </p:cTn>
              <p:nextCondLst>
                <p:cond evt="onClick" delay="0">
                  <p:tgtEl>
                    <p:spTgt spid="2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92542-E683-B4F5-A1AE-49CAB1F01B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D0DB659-879E-B29B-9D12-9A91F5E331AF}"/>
              </a:ext>
            </a:extLst>
          </p:cNvPr>
          <p:cNvSpPr txBox="1">
            <a:spLocks/>
          </p:cNvSpPr>
          <p:nvPr/>
        </p:nvSpPr>
        <p:spPr>
          <a:xfrm>
            <a:off x="395464" y="500615"/>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Calibri" panose="020F0502020204030204" pitchFamily="34" charset="0"/>
                <a:ea typeface="Calibri" panose="020F0502020204030204" pitchFamily="34" charset="0"/>
                <a:cs typeface="Calibri" panose="020F0502020204030204" pitchFamily="34" charset="0"/>
              </a:rPr>
              <a:t>AMD Skills Demos – Local AI App Integration</a:t>
            </a:r>
          </a:p>
        </p:txBody>
      </p:sp>
      <p:sp>
        <p:nvSpPr>
          <p:cNvPr id="7" name="Text 0">
            <a:extLst>
              <a:ext uri="{FF2B5EF4-FFF2-40B4-BE49-F238E27FC236}">
                <a16:creationId xmlns:a16="http://schemas.microsoft.com/office/drawing/2014/main" id="{C71632E7-F32E-66A7-145F-60065ACC8D5A}"/>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pic>
        <p:nvPicPr>
          <p:cNvPr id="2" name="demo">
            <a:hlinkClick r:id="" action="ppaction://media"/>
            <a:extLst>
              <a:ext uri="{FF2B5EF4-FFF2-40B4-BE49-F238E27FC236}">
                <a16:creationId xmlns:a16="http://schemas.microsoft.com/office/drawing/2014/main" id="{9E23A713-B3CB-C1FA-E1FA-A088649A89BB}"/>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285340" y="1110911"/>
            <a:ext cx="10264766" cy="5558745"/>
          </a:xfrm>
          <a:prstGeom prst="rect">
            <a:avLst/>
          </a:prstGeom>
        </p:spPr>
      </p:pic>
    </p:spTree>
    <p:custDataLst>
      <p:custData r:id="rId1"/>
      <p:custData r:id="rId2"/>
    </p:custDataLst>
    <p:extLst>
      <p:ext uri="{BB962C8B-B14F-4D97-AF65-F5344CB8AC3E}">
        <p14:creationId xmlns:p14="http://schemas.microsoft.com/office/powerpoint/2010/main" val="14720781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626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EB7E07E-A323-274E-7E88-F263BA8A9BD5}"/>
              </a:ext>
            </a:extLst>
          </p:cNvPr>
          <p:cNvSpPr txBox="1">
            <a:spLocks/>
          </p:cNvSpPr>
          <p:nvPr/>
        </p:nvSpPr>
        <p:spPr>
          <a:xfrm>
            <a:off x="395464" y="500615"/>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Calibri" panose="020F0502020204030204" pitchFamily="34" charset="0"/>
                <a:ea typeface="Calibri" panose="020F0502020204030204" pitchFamily="34" charset="0"/>
                <a:cs typeface="Calibri" panose="020F0502020204030204" pitchFamily="34" charset="0"/>
              </a:rPr>
              <a:t>AMD Skills Demos – Serving LLMs on Instinct</a:t>
            </a:r>
          </a:p>
        </p:txBody>
      </p:sp>
      <p:sp>
        <p:nvSpPr>
          <p:cNvPr id="7" name="Text 0">
            <a:extLst>
              <a:ext uri="{FF2B5EF4-FFF2-40B4-BE49-F238E27FC236}">
                <a16:creationId xmlns:a16="http://schemas.microsoft.com/office/drawing/2014/main" id="{28EA4AD8-44A9-570C-7361-B5D4326A1EDE}"/>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pic>
        <p:nvPicPr>
          <p:cNvPr id="8" name="Codex_DeepSeekV4_on_Helios_3840x2160_V5">
            <a:hlinkClick r:id="" action="ppaction://media"/>
            <a:extLst>
              <a:ext uri="{FF2B5EF4-FFF2-40B4-BE49-F238E27FC236}">
                <a16:creationId xmlns:a16="http://schemas.microsoft.com/office/drawing/2014/main" id="{1FA770A8-6AF7-C31D-E3B0-898544CC5601}"/>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1334714" y="1188543"/>
            <a:ext cx="9358686" cy="5264261"/>
          </a:xfrm>
          <a:prstGeom prst="rect">
            <a:avLst/>
          </a:prstGeom>
        </p:spPr>
      </p:pic>
    </p:spTree>
    <p:custDataLst>
      <p:custData r:id="rId1"/>
      <p:custData r:id="rId2"/>
    </p:custDataLst>
    <p:extLst>
      <p:ext uri="{BB962C8B-B14F-4D97-AF65-F5344CB8AC3E}">
        <p14:creationId xmlns:p14="http://schemas.microsoft.com/office/powerpoint/2010/main" val="7395934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93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4094A-AC74-0BAF-4B58-07A04B88106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50C8BDA-DB63-E293-7F34-FA4FF07ED214}"/>
              </a:ext>
            </a:extLst>
          </p:cNvPr>
          <p:cNvSpPr txBox="1">
            <a:spLocks/>
          </p:cNvSpPr>
          <p:nvPr/>
        </p:nvSpPr>
        <p:spPr>
          <a:xfrm>
            <a:off x="395464" y="500615"/>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Calibri" panose="020F0502020204030204" pitchFamily="34" charset="0"/>
                <a:ea typeface="Calibri" panose="020F0502020204030204" pitchFamily="34" charset="0"/>
                <a:cs typeface="Calibri" panose="020F0502020204030204" pitchFamily="34" charset="0"/>
              </a:rPr>
              <a:t>AMD Skills Demos – TraceLens</a:t>
            </a:r>
          </a:p>
        </p:txBody>
      </p:sp>
      <p:sp>
        <p:nvSpPr>
          <p:cNvPr id="7" name="Text 0">
            <a:extLst>
              <a:ext uri="{FF2B5EF4-FFF2-40B4-BE49-F238E27FC236}">
                <a16:creationId xmlns:a16="http://schemas.microsoft.com/office/drawing/2014/main" id="{CB821596-363B-A966-DCD1-50F4B349FD76}"/>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sp>
        <p:nvSpPr>
          <p:cNvPr id="2" name="TextBox 1">
            <a:extLst>
              <a:ext uri="{FF2B5EF4-FFF2-40B4-BE49-F238E27FC236}">
                <a16:creationId xmlns:a16="http://schemas.microsoft.com/office/drawing/2014/main" id="{76C7AC12-CBB1-7703-D7CE-3C62B7C69CB9}"/>
              </a:ext>
            </a:extLst>
          </p:cNvPr>
          <p:cNvSpPr txBox="1"/>
          <p:nvPr/>
        </p:nvSpPr>
        <p:spPr>
          <a:xfrm>
            <a:off x="413186" y="1029729"/>
            <a:ext cx="11197088"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800">
                <a:latin typeface="Arial"/>
                <a:ea typeface="Calibri"/>
                <a:cs typeface="Arial"/>
              </a:rPr>
              <a:t>“</a:t>
            </a:r>
            <a:r>
              <a:rPr lang="en-US" sz="1800">
                <a:cs typeface="Arial"/>
              </a:rPr>
              <a:t>Run the </a:t>
            </a:r>
            <a:r>
              <a:rPr lang="en-US" sz="1800" err="1">
                <a:cs typeface="Arial"/>
              </a:rPr>
              <a:t>TraceLens</a:t>
            </a:r>
            <a:r>
              <a:rPr lang="en-US" sz="1800">
                <a:cs typeface="Arial"/>
              </a:rPr>
              <a:t> orchestrator on my trace in llama3_70b_trace and put the results in llama3_70b_analysis”</a:t>
            </a:r>
          </a:p>
        </p:txBody>
      </p:sp>
      <p:pic>
        <p:nvPicPr>
          <p:cNvPr id="4" name="Picture 3">
            <a:extLst>
              <a:ext uri="{FF2B5EF4-FFF2-40B4-BE49-F238E27FC236}">
                <a16:creationId xmlns:a16="http://schemas.microsoft.com/office/drawing/2014/main" id="{CEE0574D-1A42-71ED-E0E1-5E437C7A351F}"/>
              </a:ext>
            </a:extLst>
          </p:cNvPr>
          <p:cNvPicPr>
            <a:picLocks noChangeAspect="1"/>
          </p:cNvPicPr>
          <p:nvPr/>
        </p:nvPicPr>
        <p:blipFill>
          <a:blip r:embed="rId4"/>
          <a:stretch>
            <a:fillRect/>
          </a:stretch>
        </p:blipFill>
        <p:spPr>
          <a:xfrm>
            <a:off x="5276850" y="1473633"/>
            <a:ext cx="6743700" cy="4807632"/>
          </a:xfrm>
          <a:prstGeom prst="rect">
            <a:avLst/>
          </a:prstGeom>
          <a:ln>
            <a:solidFill>
              <a:schemeClr val="tx1"/>
            </a:solidFill>
          </a:ln>
        </p:spPr>
      </p:pic>
      <p:sp>
        <p:nvSpPr>
          <p:cNvPr id="6" name="TextBox 5">
            <a:extLst>
              <a:ext uri="{FF2B5EF4-FFF2-40B4-BE49-F238E27FC236}">
                <a16:creationId xmlns:a16="http://schemas.microsoft.com/office/drawing/2014/main" id="{F378CDFB-1A87-B04B-1F1A-F4A4485FE24B}"/>
              </a:ext>
            </a:extLst>
          </p:cNvPr>
          <p:cNvSpPr txBox="1"/>
          <p:nvPr/>
        </p:nvSpPr>
        <p:spPr>
          <a:xfrm>
            <a:off x="395464" y="1755063"/>
            <a:ext cx="3801886" cy="1107996"/>
          </a:xfrm>
          <a:prstGeom prst="rect">
            <a:avLst/>
          </a:prstGeom>
          <a:noFill/>
        </p:spPr>
        <p:txBody>
          <a:bodyPr wrap="square" lIns="0" tIns="0" rIns="0" bIns="0" rtlCol="0">
            <a:spAutoFit/>
          </a:bodyPr>
          <a:lstStyle/>
          <a:p>
            <a:pPr algn="l">
              <a:buClr>
                <a:schemeClr val="accent1"/>
              </a:buClr>
              <a:buSzPct val="60000"/>
            </a:pPr>
            <a:r>
              <a:rPr lang="en-US" sz="1800"/>
              <a:t>Clearly identifies the bottlenecks</a:t>
            </a:r>
          </a:p>
          <a:p>
            <a:pPr algn="l">
              <a:buClr>
                <a:schemeClr val="accent1"/>
              </a:buClr>
              <a:buSzPct val="60000"/>
            </a:pPr>
            <a:endParaRPr lang="en-US" sz="1800"/>
          </a:p>
          <a:p>
            <a:pPr algn="l">
              <a:buClr>
                <a:schemeClr val="accent1"/>
              </a:buClr>
              <a:buSzPct val="60000"/>
            </a:pPr>
            <a:r>
              <a:rPr lang="en-US" sz="1800"/>
              <a:t>The report shows which GEMMs are inefficient</a:t>
            </a:r>
          </a:p>
        </p:txBody>
      </p:sp>
      <p:cxnSp>
        <p:nvCxnSpPr>
          <p:cNvPr id="8" name="Straight Connector 7">
            <a:extLst>
              <a:ext uri="{FF2B5EF4-FFF2-40B4-BE49-F238E27FC236}">
                <a16:creationId xmlns:a16="http://schemas.microsoft.com/office/drawing/2014/main" id="{C7A7B8CD-FEA5-E869-D0D4-57F51D3F534E}"/>
              </a:ext>
            </a:extLst>
          </p:cNvPr>
          <p:cNvCxnSpPr>
            <a:cxnSpLocks/>
          </p:cNvCxnSpPr>
          <p:nvPr/>
        </p:nvCxnSpPr>
        <p:spPr>
          <a:xfrm flipH="1" flipV="1">
            <a:off x="3740150" y="1968500"/>
            <a:ext cx="2952750" cy="3003550"/>
          </a:xfrm>
          <a:prstGeom prst="line">
            <a:avLst/>
          </a:prstGeom>
          <a:ln>
            <a:headEnd type="none" w="med" len="med"/>
            <a:tailEnd type="arrow" w="med" len="med"/>
          </a:ln>
        </p:spPr>
        <p:style>
          <a:lnRef idx="1">
            <a:schemeClr val="accent4"/>
          </a:lnRef>
          <a:fillRef idx="0">
            <a:schemeClr val="accent4"/>
          </a:fillRef>
          <a:effectRef idx="0">
            <a:schemeClr val="accent4"/>
          </a:effectRef>
          <a:fontRef idx="minor">
            <a:schemeClr val="tx1"/>
          </a:fontRef>
        </p:style>
      </p:cxnSp>
      <p:pic>
        <p:nvPicPr>
          <p:cNvPr id="12" name="Picture 11">
            <a:extLst>
              <a:ext uri="{FF2B5EF4-FFF2-40B4-BE49-F238E27FC236}">
                <a16:creationId xmlns:a16="http://schemas.microsoft.com/office/drawing/2014/main" id="{258E191D-FFFE-1F7F-B91D-C56CF8B4EFD8}"/>
              </a:ext>
            </a:extLst>
          </p:cNvPr>
          <p:cNvPicPr>
            <a:picLocks noChangeAspect="1"/>
          </p:cNvPicPr>
          <p:nvPr/>
        </p:nvPicPr>
        <p:blipFill>
          <a:blip r:embed="rId5"/>
          <a:stretch>
            <a:fillRect/>
          </a:stretch>
        </p:blipFill>
        <p:spPr>
          <a:xfrm>
            <a:off x="592314" y="2926559"/>
            <a:ext cx="3509786" cy="3759213"/>
          </a:xfrm>
          <a:prstGeom prst="rect">
            <a:avLst/>
          </a:prstGeom>
        </p:spPr>
      </p:pic>
    </p:spTree>
    <p:custDataLst>
      <p:custData r:id="rId1"/>
      <p:custData r:id="rId2"/>
    </p:custDataLst>
    <p:extLst>
      <p:ext uri="{BB962C8B-B14F-4D97-AF65-F5344CB8AC3E}">
        <p14:creationId xmlns:p14="http://schemas.microsoft.com/office/powerpoint/2010/main" val="290763539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64BB0-0EAE-EFEB-0F24-B59B4BE0B3A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7110AA6-7EE0-17E9-DEFA-C402286593A5}"/>
              </a:ext>
            </a:extLst>
          </p:cNvPr>
          <p:cNvSpPr txBox="1">
            <a:spLocks/>
          </p:cNvSpPr>
          <p:nvPr/>
        </p:nvSpPr>
        <p:spPr>
          <a:xfrm>
            <a:off x="395464" y="500615"/>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Calibri" panose="020F0502020204030204" pitchFamily="34" charset="0"/>
                <a:ea typeface="Calibri" panose="020F0502020204030204" pitchFamily="34" charset="0"/>
                <a:cs typeface="Calibri" panose="020F0502020204030204" pitchFamily="34" charset="0"/>
              </a:rPr>
              <a:t>AMD Skills – Walkthroughs</a:t>
            </a:r>
          </a:p>
        </p:txBody>
      </p:sp>
      <p:sp>
        <p:nvSpPr>
          <p:cNvPr id="7" name="Text 0">
            <a:extLst>
              <a:ext uri="{FF2B5EF4-FFF2-40B4-BE49-F238E27FC236}">
                <a16:creationId xmlns:a16="http://schemas.microsoft.com/office/drawing/2014/main" id="{99055F8B-2C41-8FF4-2C4E-61C3533E1FA4}"/>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sp>
        <p:nvSpPr>
          <p:cNvPr id="4" name="TextBox 3">
            <a:extLst>
              <a:ext uri="{FF2B5EF4-FFF2-40B4-BE49-F238E27FC236}">
                <a16:creationId xmlns:a16="http://schemas.microsoft.com/office/drawing/2014/main" id="{4BDB6240-12FF-9451-A210-3CA0A5FF9A77}"/>
              </a:ext>
            </a:extLst>
          </p:cNvPr>
          <p:cNvSpPr txBox="1"/>
          <p:nvPr/>
        </p:nvSpPr>
        <p:spPr>
          <a:xfrm>
            <a:off x="395465" y="1609185"/>
            <a:ext cx="6954570" cy="4970591"/>
          </a:xfrm>
          <a:prstGeom prst="rect">
            <a:avLst/>
          </a:prstGeom>
          <a:noFill/>
        </p:spPr>
        <p:txBody>
          <a:bodyPr wrap="square">
            <a:spAutoFit/>
          </a:bodyPr>
          <a:lstStyle/>
          <a:p>
            <a:r>
              <a:rPr lang="en-US" sz="2000" b="1" kern="0" spc="300">
                <a:solidFill>
                  <a:schemeClr val="accent4"/>
                </a:solidFill>
                <a:latin typeface="Calibri"/>
                <a:ea typeface="Calibri"/>
                <a:cs typeface="Calibri"/>
              </a:rPr>
              <a:t>The easiest way of getting started</a:t>
            </a:r>
            <a:br>
              <a:rPr lang="en-US" sz="2000" b="1" kern="0" spc="300">
                <a:solidFill>
                  <a:schemeClr val="accent4"/>
                </a:solidFill>
                <a:latin typeface="Calibri"/>
                <a:ea typeface="Calibri"/>
                <a:cs typeface="Calibri"/>
              </a:rPr>
            </a:br>
            <a:endParaRPr lang="en-US" sz="1400" b="1" kern="0" spc="300">
              <a:solidFill>
                <a:schemeClr val="accent4"/>
              </a:solidFill>
              <a:latin typeface="Calibri"/>
              <a:ea typeface="Calibri"/>
              <a:cs typeface="Calibri"/>
            </a:endParaRPr>
          </a:p>
          <a:p>
            <a:pPr marL="342900" indent="-342900">
              <a:buFont typeface="Arial" panose="020B0604020202020204" pitchFamily="34" charset="0"/>
              <a:buChar char="•"/>
            </a:pPr>
            <a:r>
              <a:rPr lang="en-US" sz="1300" kern="0" spc="300">
                <a:latin typeface="Calibri"/>
                <a:ea typeface="Calibri"/>
                <a:cs typeface="Calibri"/>
              </a:rPr>
              <a:t>Guided tours through each of the skills</a:t>
            </a:r>
            <a:br>
              <a:rPr lang="en-US" sz="1300" kern="0" spc="300">
                <a:latin typeface="Calibri"/>
                <a:ea typeface="Calibri"/>
                <a:cs typeface="Calibri"/>
              </a:rPr>
            </a:br>
            <a:endParaRPr lang="en-US" sz="1300" kern="0" spc="300">
              <a:latin typeface="Calibri"/>
              <a:ea typeface="Calibri"/>
              <a:cs typeface="Calibri"/>
            </a:endParaRPr>
          </a:p>
          <a:p>
            <a:pPr marL="342900" indent="-342900">
              <a:buFont typeface="Arial" panose="020B0604020202020204" pitchFamily="34" charset="0"/>
              <a:buChar char="•"/>
            </a:pPr>
            <a:r>
              <a:rPr lang="en-US" sz="1300" kern="0" spc="300">
                <a:latin typeface="Calibri"/>
                <a:ea typeface="Calibri"/>
                <a:cs typeface="Calibri"/>
              </a:rPr>
              <a:t>Each skill has a corresponding walkthrough</a:t>
            </a:r>
            <a:br>
              <a:rPr lang="en-US" sz="1300" kern="0" spc="300">
                <a:latin typeface="Calibri"/>
                <a:ea typeface="Calibri"/>
                <a:cs typeface="Calibri"/>
              </a:rPr>
            </a:br>
            <a:endParaRPr lang="en-US" sz="1300" kern="0" spc="300">
              <a:latin typeface="Calibri"/>
              <a:ea typeface="Calibri"/>
              <a:cs typeface="Calibri"/>
            </a:endParaRPr>
          </a:p>
          <a:p>
            <a:pPr marL="342900" indent="-342900">
              <a:buFont typeface="Arial" panose="020B0604020202020204" pitchFamily="34" charset="0"/>
              <a:buChar char="•"/>
            </a:pPr>
            <a:r>
              <a:rPr lang="en-US" sz="1300" kern="0" spc="300">
                <a:latin typeface="Calibri"/>
                <a:ea typeface="Calibri"/>
                <a:cs typeface="Calibri"/>
              </a:rPr>
              <a:t>Learn things such as</a:t>
            </a:r>
            <a:br>
              <a:rPr lang="en-US" sz="1300" kern="0" spc="300">
                <a:latin typeface="Calibri"/>
                <a:ea typeface="Calibri"/>
                <a:cs typeface="Calibri"/>
              </a:rPr>
            </a:br>
            <a:endParaRPr lang="en-US" sz="1300" kern="0" spc="300">
              <a:latin typeface="Calibri"/>
              <a:ea typeface="Calibri"/>
              <a:cs typeface="Calibri"/>
            </a:endParaRPr>
          </a:p>
          <a:p>
            <a:pPr marL="800083" lvl="1" indent="-342900">
              <a:buFont typeface="Arial" panose="020B0604020202020204" pitchFamily="34" charset="0"/>
              <a:buChar char="•"/>
            </a:pPr>
            <a:r>
              <a:rPr lang="en-US" sz="1300" kern="0" spc="300">
                <a:latin typeface="Calibri"/>
                <a:ea typeface="Calibri"/>
                <a:cs typeface="Calibri"/>
              </a:rPr>
              <a:t>How do I know if my agent is picking up the skill?</a:t>
            </a:r>
            <a:br>
              <a:rPr lang="en-US" sz="1300" kern="0" spc="300">
                <a:latin typeface="Calibri"/>
                <a:ea typeface="Calibri"/>
                <a:cs typeface="Calibri"/>
              </a:rPr>
            </a:br>
            <a:endParaRPr lang="en-US" sz="1300" kern="0" spc="300">
              <a:latin typeface="Calibri"/>
              <a:ea typeface="Calibri"/>
              <a:cs typeface="Calibri"/>
            </a:endParaRPr>
          </a:p>
          <a:p>
            <a:pPr marL="800083" lvl="1" indent="-342900">
              <a:buFont typeface="Arial" panose="020B0604020202020204" pitchFamily="34" charset="0"/>
              <a:buChar char="•"/>
            </a:pPr>
            <a:r>
              <a:rPr lang="en-US" sz="1300" kern="0" spc="300">
                <a:latin typeface="Calibri"/>
                <a:ea typeface="Calibri"/>
                <a:cs typeface="Calibri"/>
              </a:rPr>
              <a:t>What should I expect from the same task if no skill is present?</a:t>
            </a:r>
            <a:br>
              <a:rPr lang="en-US" sz="1300" kern="0" spc="300">
                <a:latin typeface="Calibri"/>
                <a:ea typeface="Calibri"/>
                <a:cs typeface="Calibri"/>
              </a:rPr>
            </a:br>
            <a:endParaRPr lang="en-US" sz="1300" kern="0" spc="300">
              <a:latin typeface="Calibri"/>
              <a:ea typeface="Calibri"/>
              <a:cs typeface="Calibri"/>
            </a:endParaRPr>
          </a:p>
          <a:p>
            <a:pPr marL="800083" lvl="1" indent="-342900">
              <a:buFont typeface="Arial" panose="020B0604020202020204" pitchFamily="34" charset="0"/>
              <a:buChar char="•"/>
            </a:pPr>
            <a:r>
              <a:rPr lang="en-US" sz="1300" kern="0" spc="300">
                <a:latin typeface="Calibri"/>
                <a:ea typeface="Calibri"/>
                <a:cs typeface="Calibri"/>
              </a:rPr>
              <a:t>Specific examples and best know configurations</a:t>
            </a:r>
          </a:p>
          <a:p>
            <a:pPr marL="800083" lvl="1" indent="-342900">
              <a:buFont typeface="Arial" panose="020B0604020202020204" pitchFamily="34" charset="0"/>
              <a:buChar char="•"/>
            </a:pPr>
            <a:endParaRPr lang="en-US" sz="1300" b="1" kern="0" spc="300">
              <a:latin typeface="Calibri"/>
              <a:ea typeface="Calibri"/>
              <a:cs typeface="Calibri"/>
            </a:endParaRPr>
          </a:p>
          <a:p>
            <a:pPr marL="342900" indent="-342900">
              <a:buFont typeface="Arial" panose="020B0604020202020204" pitchFamily="34" charset="0"/>
              <a:buChar char="•"/>
            </a:pPr>
            <a:endParaRPr lang="en-US" sz="2000" b="1" kern="0" spc="300">
              <a:solidFill>
                <a:schemeClr val="accent4"/>
              </a:solidFill>
              <a:latin typeface="Calibri"/>
              <a:ea typeface="Calibri"/>
              <a:cs typeface="Calibri"/>
            </a:endParaRPr>
          </a:p>
          <a:p>
            <a:pPr algn="r"/>
            <a:endParaRPr lang="en-US" sz="2000" b="1" kern="0" spc="300">
              <a:solidFill>
                <a:schemeClr val="accent4"/>
              </a:solidFill>
              <a:latin typeface="Calibri"/>
              <a:ea typeface="Calibri"/>
              <a:cs typeface="Calibri"/>
            </a:endParaRPr>
          </a:p>
          <a:p>
            <a:br>
              <a:rPr lang="en-US" sz="1300" b="1" kern="0" spc="300">
                <a:latin typeface="Calibri"/>
                <a:ea typeface="Calibri"/>
                <a:cs typeface="Calibri"/>
              </a:rPr>
            </a:br>
            <a:endParaRPr lang="en-US" sz="1300" b="1" kern="0" spc="300">
              <a:latin typeface="Calibri"/>
              <a:ea typeface="Calibri"/>
              <a:cs typeface="Calibri"/>
            </a:endParaRPr>
          </a:p>
          <a:p>
            <a:pPr algn="ctr"/>
            <a:endParaRPr lang="en-US" sz="1300" b="1" kern="0" spc="300">
              <a:solidFill>
                <a:srgbClr val="FFFFFF"/>
              </a:solidFill>
              <a:latin typeface="Calibri"/>
              <a:ea typeface="Calibri"/>
              <a:cs typeface="Calibri"/>
            </a:endParaRPr>
          </a:p>
          <a:p>
            <a:pPr algn="ctr"/>
            <a:br>
              <a:rPr lang="en-US" sz="1100" b="1" kern="0" spc="300">
                <a:solidFill>
                  <a:srgbClr val="FFFFFF"/>
                </a:solidFill>
                <a:latin typeface="Calibri"/>
                <a:ea typeface="Calibri"/>
                <a:cs typeface="Calibri"/>
              </a:rPr>
            </a:br>
            <a:br>
              <a:rPr lang="en-US" sz="1100" b="1" kern="0" spc="300">
                <a:solidFill>
                  <a:srgbClr val="FFFFFF"/>
                </a:solidFill>
                <a:latin typeface="Calibri"/>
                <a:ea typeface="Calibri"/>
                <a:cs typeface="Calibri"/>
              </a:rPr>
            </a:br>
            <a:endParaRPr lang="en-US" sz="1300" b="1" kern="0" spc="300">
              <a:latin typeface="Calibri"/>
              <a:ea typeface="Calibri"/>
              <a:cs typeface="Calibri"/>
            </a:endParaRPr>
          </a:p>
        </p:txBody>
      </p:sp>
      <p:pic>
        <p:nvPicPr>
          <p:cNvPr id="9" name="Picture 8">
            <a:extLst>
              <a:ext uri="{FF2B5EF4-FFF2-40B4-BE49-F238E27FC236}">
                <a16:creationId xmlns:a16="http://schemas.microsoft.com/office/drawing/2014/main" id="{F54BF039-C512-5240-EA75-2EE74CF636B2}"/>
              </a:ext>
            </a:extLst>
          </p:cNvPr>
          <p:cNvPicPr>
            <a:picLocks noChangeAspect="1"/>
          </p:cNvPicPr>
          <p:nvPr/>
        </p:nvPicPr>
        <p:blipFill>
          <a:blip r:embed="rId3"/>
          <a:stretch>
            <a:fillRect/>
          </a:stretch>
        </p:blipFill>
        <p:spPr>
          <a:xfrm>
            <a:off x="7294192" y="0"/>
            <a:ext cx="4897808" cy="6858000"/>
          </a:xfrm>
          <a:prstGeom prst="rect">
            <a:avLst/>
          </a:prstGeom>
        </p:spPr>
      </p:pic>
    </p:spTree>
    <p:extLst>
      <p:ext uri="{BB962C8B-B14F-4D97-AF65-F5344CB8AC3E}">
        <p14:creationId xmlns:p14="http://schemas.microsoft.com/office/powerpoint/2010/main" val="285724815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6E0D7D-7208-913E-D337-F4D3675A5CA7}"/>
            </a:ext>
          </a:extLst>
        </p:cNvPr>
        <p:cNvGrpSpPr/>
        <p:nvPr/>
      </p:nvGrpSpPr>
      <p:grpSpPr>
        <a:xfrm>
          <a:off x="0" y="0"/>
          <a:ext cx="0" cy="0"/>
          <a:chOff x="0" y="0"/>
          <a:chExt cx="0" cy="0"/>
        </a:xfrm>
      </p:grpSpPr>
      <p:sp>
        <p:nvSpPr>
          <p:cNvPr id="48" name="Title 1">
            <a:extLst>
              <a:ext uri="{FF2B5EF4-FFF2-40B4-BE49-F238E27FC236}">
                <a16:creationId xmlns:a16="http://schemas.microsoft.com/office/drawing/2014/main" id="{F0957225-11E3-E077-AA15-35482A548F04}"/>
              </a:ext>
            </a:extLst>
          </p:cNvPr>
          <p:cNvSpPr>
            <a:spLocks noGrp="1"/>
          </p:cNvSpPr>
          <p:nvPr>
            <p:ph type="title"/>
          </p:nvPr>
        </p:nvSpPr>
        <p:spPr>
          <a:xfrm>
            <a:off x="395464" y="500615"/>
            <a:ext cx="11018520" cy="430887"/>
          </a:xfrm>
        </p:spPr>
        <p:txBody>
          <a:bodyPr/>
          <a:lstStyle/>
          <a:p>
            <a:r>
              <a:rPr lang="en-US">
                <a:latin typeface="Calibri" panose="020F0502020204030204" pitchFamily="34" charset="0"/>
                <a:ea typeface="Calibri" panose="020F0502020204030204" pitchFamily="34" charset="0"/>
                <a:cs typeface="Calibri" panose="020F0502020204030204" pitchFamily="34" charset="0"/>
              </a:rPr>
              <a:t>AMD Skills – Skill Evaluation</a:t>
            </a:r>
          </a:p>
        </p:txBody>
      </p:sp>
      <p:sp>
        <p:nvSpPr>
          <p:cNvPr id="49" name="Text 0">
            <a:extLst>
              <a:ext uri="{FF2B5EF4-FFF2-40B4-BE49-F238E27FC236}">
                <a16:creationId xmlns:a16="http://schemas.microsoft.com/office/drawing/2014/main" id="{91136886-3AFD-AC92-CB67-D9D16B6D41F4}"/>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pic>
        <p:nvPicPr>
          <p:cNvPr id="5" name="Picture 4">
            <a:extLst>
              <a:ext uri="{FF2B5EF4-FFF2-40B4-BE49-F238E27FC236}">
                <a16:creationId xmlns:a16="http://schemas.microsoft.com/office/drawing/2014/main" id="{3D4A8224-A68D-457F-40E8-25109813553B}"/>
              </a:ext>
            </a:extLst>
          </p:cNvPr>
          <p:cNvPicPr>
            <a:picLocks noChangeAspect="1"/>
          </p:cNvPicPr>
          <p:nvPr/>
        </p:nvPicPr>
        <p:blipFill>
          <a:blip r:embed="rId5"/>
          <a:stretch>
            <a:fillRect/>
          </a:stretch>
        </p:blipFill>
        <p:spPr>
          <a:xfrm>
            <a:off x="113255" y="1602151"/>
            <a:ext cx="7082092" cy="4452396"/>
          </a:xfrm>
          <a:prstGeom prst="rect">
            <a:avLst/>
          </a:prstGeom>
        </p:spPr>
      </p:pic>
      <p:cxnSp>
        <p:nvCxnSpPr>
          <p:cNvPr id="8" name="Straight Connector 7">
            <a:extLst>
              <a:ext uri="{FF2B5EF4-FFF2-40B4-BE49-F238E27FC236}">
                <a16:creationId xmlns:a16="http://schemas.microsoft.com/office/drawing/2014/main" id="{11C5079C-E450-4B8E-0636-69730C09E54B}"/>
              </a:ext>
            </a:extLst>
          </p:cNvPr>
          <p:cNvCxnSpPr>
            <a:cxnSpLocks/>
          </p:cNvCxnSpPr>
          <p:nvPr/>
        </p:nvCxnSpPr>
        <p:spPr>
          <a:xfrm>
            <a:off x="6552490" y="2913949"/>
            <a:ext cx="1035760" cy="33064"/>
          </a:xfrm>
          <a:prstGeom prst="line">
            <a:avLst/>
          </a:prstGeom>
          <a:ln>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77B9A09D-4ECF-4564-C491-D3DAA3A36861}"/>
              </a:ext>
            </a:extLst>
          </p:cNvPr>
          <p:cNvCxnSpPr>
            <a:cxnSpLocks/>
          </p:cNvCxnSpPr>
          <p:nvPr/>
        </p:nvCxnSpPr>
        <p:spPr>
          <a:xfrm flipV="1">
            <a:off x="6552490" y="3788489"/>
            <a:ext cx="845260" cy="276772"/>
          </a:xfrm>
          <a:prstGeom prst="line">
            <a:avLst/>
          </a:prstGeom>
          <a:ln>
            <a:headEnd type="none" w="med" len="med"/>
            <a:tailEnd type="arrow" w="med" len="med"/>
          </a:ln>
        </p:spPr>
        <p:style>
          <a:lnRef idx="1">
            <a:schemeClr val="accent4"/>
          </a:lnRef>
          <a:fillRef idx="0">
            <a:schemeClr val="accent4"/>
          </a:fillRef>
          <a:effectRef idx="0">
            <a:schemeClr val="accent4"/>
          </a:effectRef>
          <a:fontRef idx="minor">
            <a:schemeClr val="tx1"/>
          </a:fontRef>
        </p:style>
      </p:cxnSp>
      <p:cxnSp>
        <p:nvCxnSpPr>
          <p:cNvPr id="16" name="Straight Connector 15">
            <a:extLst>
              <a:ext uri="{FF2B5EF4-FFF2-40B4-BE49-F238E27FC236}">
                <a16:creationId xmlns:a16="http://schemas.microsoft.com/office/drawing/2014/main" id="{31474F55-22A7-8E5A-BC24-B4FD6CB45801}"/>
              </a:ext>
            </a:extLst>
          </p:cNvPr>
          <p:cNvCxnSpPr>
            <a:cxnSpLocks/>
          </p:cNvCxnSpPr>
          <p:nvPr/>
        </p:nvCxnSpPr>
        <p:spPr>
          <a:xfrm flipV="1">
            <a:off x="6380965" y="4906737"/>
            <a:ext cx="906128" cy="200054"/>
          </a:xfrm>
          <a:prstGeom prst="line">
            <a:avLst/>
          </a:prstGeom>
          <a:ln>
            <a:headEnd type="none" w="med" len="med"/>
            <a:tailEnd type="arrow" w="med" len="med"/>
          </a:ln>
        </p:spPr>
        <p:style>
          <a:lnRef idx="1">
            <a:schemeClr val="accent4"/>
          </a:lnRef>
          <a:fillRef idx="0">
            <a:schemeClr val="accent4"/>
          </a:fillRef>
          <a:effectRef idx="0">
            <a:schemeClr val="accent4"/>
          </a:effectRef>
          <a:fontRef idx="minor">
            <a:schemeClr val="tx1"/>
          </a:fontRef>
        </p:style>
      </p:cxnSp>
      <p:sp>
        <p:nvSpPr>
          <p:cNvPr id="25" name="TextBox 24">
            <a:extLst>
              <a:ext uri="{FF2B5EF4-FFF2-40B4-BE49-F238E27FC236}">
                <a16:creationId xmlns:a16="http://schemas.microsoft.com/office/drawing/2014/main" id="{068F5547-9428-E8A0-2F74-51C83C432F07}"/>
              </a:ext>
            </a:extLst>
          </p:cNvPr>
          <p:cNvSpPr txBox="1"/>
          <p:nvPr/>
        </p:nvSpPr>
        <p:spPr>
          <a:xfrm>
            <a:off x="7237491" y="1809510"/>
            <a:ext cx="4991254" cy="3862596"/>
          </a:xfrm>
          <a:prstGeom prst="rect">
            <a:avLst/>
          </a:prstGeom>
          <a:noFill/>
        </p:spPr>
        <p:txBody>
          <a:bodyPr wrap="square">
            <a:spAutoFit/>
          </a:bodyPr>
          <a:lstStyle/>
          <a:p>
            <a:pPr algn="ctr"/>
            <a:r>
              <a:rPr lang="en-US" sz="2000" b="1" kern="0" spc="300">
                <a:solidFill>
                  <a:srgbClr val="E97039"/>
                </a:solidFill>
                <a:latin typeface="Calibri"/>
                <a:ea typeface="Calibri"/>
                <a:cs typeface="Calibri"/>
              </a:rPr>
              <a:t>Individual Skill Evals</a:t>
            </a:r>
            <a:br>
              <a:rPr lang="en-US" sz="1300" b="1" kern="0" spc="300">
                <a:solidFill>
                  <a:srgbClr val="E97039"/>
                </a:solidFill>
                <a:latin typeface="Calibri"/>
                <a:ea typeface="Calibri"/>
                <a:cs typeface="Calibri"/>
              </a:rPr>
            </a:br>
            <a:br>
              <a:rPr lang="en-US" sz="1300" b="1" kern="0" spc="300">
                <a:solidFill>
                  <a:srgbClr val="E97039"/>
                </a:solidFill>
                <a:latin typeface="Calibri"/>
                <a:ea typeface="Calibri"/>
                <a:cs typeface="Calibri"/>
              </a:rPr>
            </a:br>
            <a:br>
              <a:rPr lang="en-US" sz="1300" b="1" kern="0" spc="300">
                <a:solidFill>
                  <a:srgbClr val="E97039"/>
                </a:solidFill>
                <a:latin typeface="Calibri"/>
                <a:ea typeface="Calibri"/>
                <a:cs typeface="Calibri"/>
              </a:rPr>
            </a:br>
            <a:endParaRPr lang="en-US" sz="1300" b="1" kern="0" spc="300">
              <a:solidFill>
                <a:srgbClr val="E97039"/>
              </a:solidFill>
              <a:latin typeface="Calibri"/>
              <a:ea typeface="Calibri"/>
              <a:cs typeface="Calibri"/>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300" b="1" i="0" u="none" strike="noStrike" kern="0" cap="none" spc="300" normalizeH="0" baseline="0" noProof="0">
                <a:ln>
                  <a:noFill/>
                </a:ln>
                <a:solidFill>
                  <a:srgbClr val="FFFFFF"/>
                </a:solidFill>
                <a:effectLst/>
                <a:uLnTx/>
                <a:uFillTx/>
                <a:latin typeface="Calibri"/>
                <a:ea typeface="Calibri"/>
                <a:cs typeface="Calibri"/>
              </a:rPr>
              <a:t>“Does it trigger the right workflows”?</a:t>
            </a:r>
            <a:br>
              <a:rPr kumimoji="0" lang="en-US" sz="1100" b="1" i="0" u="none" strike="noStrike" kern="0" cap="none" spc="300" normalizeH="0" baseline="0" noProof="0">
                <a:ln>
                  <a:noFill/>
                </a:ln>
                <a:solidFill>
                  <a:srgbClr val="FFFFFF"/>
                </a:solidFill>
                <a:effectLst/>
                <a:uLnTx/>
                <a:uFillTx/>
                <a:latin typeface="Calibri"/>
                <a:ea typeface="Calibri"/>
                <a:cs typeface="Calibri"/>
              </a:rPr>
            </a:br>
            <a:r>
              <a:rPr kumimoji="0" lang="en-US" sz="1100" i="0" u="none" strike="noStrike" kern="0" cap="none" spc="300" normalizeH="0" baseline="0" noProof="0">
                <a:ln>
                  <a:noFill/>
                </a:ln>
                <a:solidFill>
                  <a:srgbClr val="F6763C"/>
                </a:solidFill>
                <a:effectLst/>
                <a:uLnTx/>
                <a:uFillTx/>
                <a:latin typeface="Calibri"/>
                <a:ea typeface="Calibri"/>
                <a:cs typeface="Calibri"/>
              </a:rPr>
              <a:t>Expected trigger + Behavioral Expectation</a:t>
            </a:r>
            <a:br>
              <a:rPr kumimoji="0" lang="en-US" sz="1100" b="1" i="0" u="none" strike="noStrike" kern="0" cap="none" spc="300" normalizeH="0" baseline="0" noProof="0">
                <a:ln>
                  <a:noFill/>
                </a:ln>
                <a:solidFill>
                  <a:srgbClr val="F6763C"/>
                </a:solidFill>
                <a:effectLst/>
                <a:uLnTx/>
                <a:uFillTx/>
                <a:latin typeface="Calibri"/>
                <a:ea typeface="Calibri"/>
                <a:cs typeface="Calibri"/>
              </a:rPr>
            </a:br>
            <a:br>
              <a:rPr kumimoji="0" lang="en-US" sz="1100" b="1" i="0" u="none" strike="noStrike" kern="0" cap="none" spc="300" normalizeH="0" baseline="0" noProof="0">
                <a:ln>
                  <a:noFill/>
                </a:ln>
                <a:solidFill>
                  <a:srgbClr val="F6763C"/>
                </a:solidFill>
                <a:effectLst/>
                <a:uLnTx/>
                <a:uFillTx/>
                <a:latin typeface="Calibri"/>
                <a:ea typeface="Calibri"/>
                <a:cs typeface="Calibri"/>
              </a:rPr>
            </a:br>
            <a:br>
              <a:rPr kumimoji="0" lang="en-US" sz="1100" b="1" i="0" u="none" strike="noStrike" kern="0" cap="none" spc="300" normalizeH="0" baseline="0" noProof="0">
                <a:ln>
                  <a:noFill/>
                </a:ln>
                <a:solidFill>
                  <a:srgbClr val="F6763C"/>
                </a:solidFill>
                <a:effectLst/>
                <a:uLnTx/>
                <a:uFillTx/>
                <a:latin typeface="Calibri"/>
                <a:ea typeface="Calibri"/>
                <a:cs typeface="Calibri"/>
              </a:rPr>
            </a:br>
            <a:br>
              <a:rPr kumimoji="0" lang="en-US" sz="1100" b="1" i="0" u="none" strike="noStrike" kern="0" cap="none" spc="300" normalizeH="0" baseline="0" noProof="0">
                <a:ln>
                  <a:noFill/>
                </a:ln>
                <a:solidFill>
                  <a:srgbClr val="F6763C"/>
                </a:solidFill>
                <a:effectLst/>
                <a:uLnTx/>
                <a:uFillTx/>
                <a:latin typeface="Calibri"/>
                <a:ea typeface="Calibri"/>
                <a:cs typeface="Calibri"/>
              </a:rPr>
            </a:br>
            <a:r>
              <a:rPr kumimoji="0" lang="en-US" sz="1300" b="1" i="0" u="none" strike="noStrike" kern="0" cap="none" spc="300" normalizeH="0" baseline="0" noProof="0">
                <a:ln>
                  <a:noFill/>
                </a:ln>
                <a:solidFill>
                  <a:srgbClr val="FFFFFF"/>
                </a:solidFill>
                <a:effectLst/>
                <a:uLnTx/>
                <a:uFillTx/>
                <a:latin typeface="Calibri"/>
                <a:ea typeface="Calibri"/>
                <a:cs typeface="Calibri"/>
              </a:rPr>
              <a:t>“Does it trigger when it is supposed to?”</a:t>
            </a:r>
            <a:br>
              <a:rPr kumimoji="0" lang="en-US" sz="1100" b="1" i="0" u="none" strike="noStrike" kern="0" cap="none" spc="300" normalizeH="0" baseline="0" noProof="0">
                <a:ln>
                  <a:noFill/>
                </a:ln>
                <a:solidFill>
                  <a:srgbClr val="FFFFFF"/>
                </a:solidFill>
                <a:effectLst/>
                <a:uLnTx/>
                <a:uFillTx/>
                <a:latin typeface="Calibri"/>
                <a:ea typeface="Calibri"/>
                <a:cs typeface="Calibri"/>
              </a:rPr>
            </a:br>
            <a:r>
              <a:rPr kumimoji="0" lang="en-US" sz="1100" i="0" u="none" strike="noStrike" kern="0" cap="none" spc="300" normalizeH="0" baseline="0" noProof="0">
                <a:ln>
                  <a:noFill/>
                </a:ln>
                <a:solidFill>
                  <a:srgbClr val="F6763C"/>
                </a:solidFill>
                <a:effectLst/>
                <a:uLnTx/>
                <a:uFillTx/>
                <a:latin typeface="Calibri"/>
                <a:ea typeface="Calibri"/>
                <a:cs typeface="Calibri"/>
              </a:rPr>
              <a:t>Expected trigger + No Behavioral Expectation</a:t>
            </a:r>
            <a:endParaRPr kumimoji="0" lang="en-US" sz="1100" i="0" u="none" strike="noStrike" kern="0" cap="none" spc="300" normalizeH="0" baseline="0" noProof="0">
              <a:ln>
                <a:noFill/>
              </a:ln>
              <a:solidFill>
                <a:srgbClr val="FFFFFF"/>
              </a:solidFill>
              <a:effectLst/>
              <a:uLnTx/>
              <a:uFillTx/>
              <a:latin typeface="Calibri"/>
              <a:ea typeface="Calibri"/>
              <a:cs typeface="Calibri"/>
            </a:endParaRPr>
          </a:p>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300" normalizeH="0" baseline="0" noProof="0">
              <a:ln>
                <a:noFill/>
              </a:ln>
              <a:solidFill>
                <a:srgbClr val="FFFFFF"/>
              </a:solidFill>
              <a:effectLst/>
              <a:uLnTx/>
              <a:uFillTx/>
              <a:latin typeface="Calibri"/>
              <a:ea typeface="Calibri"/>
              <a:cs typeface="Calibri"/>
            </a:endParaRPr>
          </a:p>
          <a:p>
            <a:pPr marL="0" marR="0" lvl="0" indent="0" algn="ctr" defTabSz="914367" rtl="0" eaLnBrk="1" fontAlgn="auto" latinLnBrk="0" hangingPunct="1">
              <a:lnSpc>
                <a:spcPct val="100000"/>
              </a:lnSpc>
              <a:spcBef>
                <a:spcPts val="0"/>
              </a:spcBef>
              <a:spcAft>
                <a:spcPts val="0"/>
              </a:spcAft>
              <a:buClrTx/>
              <a:buSzTx/>
              <a:buFontTx/>
              <a:buNone/>
              <a:tabLst/>
              <a:defRPr/>
            </a:pPr>
            <a:br>
              <a:rPr lang="en-US" sz="1100" b="1" kern="0" spc="300">
                <a:solidFill>
                  <a:srgbClr val="FFFFFF"/>
                </a:solidFill>
                <a:latin typeface="Calibri"/>
                <a:ea typeface="Calibri"/>
                <a:cs typeface="Calibri"/>
              </a:rPr>
            </a:br>
            <a:br>
              <a:rPr lang="en-US" sz="1100" b="1" kern="0" spc="300">
                <a:solidFill>
                  <a:srgbClr val="FFFFFF"/>
                </a:solidFill>
                <a:latin typeface="Calibri"/>
                <a:ea typeface="Calibri"/>
                <a:cs typeface="Calibri"/>
              </a:rPr>
            </a:br>
            <a:endParaRPr lang="en-US" sz="1100" b="1" kern="0" spc="300">
              <a:solidFill>
                <a:srgbClr val="FFFFFF"/>
              </a:solidFill>
              <a:latin typeface="Calibri"/>
              <a:ea typeface="Calibri"/>
              <a:cs typeface="Calibri"/>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300" b="1" i="0" u="none" strike="noStrike" kern="0" cap="none" spc="300" normalizeH="0" baseline="0" noProof="0">
                <a:ln>
                  <a:noFill/>
                </a:ln>
                <a:solidFill>
                  <a:srgbClr val="FFFFFF"/>
                </a:solidFill>
                <a:effectLst/>
                <a:uLnTx/>
                <a:uFillTx/>
                <a:latin typeface="Calibri"/>
                <a:ea typeface="Calibri"/>
                <a:cs typeface="Calibri"/>
              </a:rPr>
              <a:t>“Does it trigger when it is not supposed to?”</a:t>
            </a:r>
            <a:br>
              <a:rPr kumimoji="0" lang="en-US" sz="1100" b="1" i="0" u="none" strike="noStrike" kern="0" cap="none" spc="300" normalizeH="0" baseline="0" noProof="0">
                <a:ln>
                  <a:noFill/>
                </a:ln>
                <a:solidFill>
                  <a:srgbClr val="FFFFFF"/>
                </a:solidFill>
                <a:effectLst/>
                <a:uLnTx/>
                <a:uFillTx/>
                <a:latin typeface="Calibri"/>
                <a:ea typeface="Calibri"/>
                <a:cs typeface="Calibri"/>
              </a:rPr>
            </a:br>
            <a:r>
              <a:rPr kumimoji="0" lang="en-US" sz="1100" i="0" u="none" strike="noStrike" kern="0" cap="none" spc="300" normalizeH="0" baseline="0" noProof="0">
                <a:ln>
                  <a:noFill/>
                </a:ln>
                <a:solidFill>
                  <a:srgbClr val="F6763C"/>
                </a:solidFill>
                <a:effectLst/>
                <a:uLnTx/>
                <a:uFillTx/>
                <a:latin typeface="Calibri"/>
                <a:ea typeface="Calibri"/>
                <a:cs typeface="Calibri"/>
              </a:rPr>
              <a:t>Unexpected trigger + No Behavioral Expectation</a:t>
            </a:r>
            <a:endParaRPr kumimoji="0" lang="en-US" sz="1100" i="0" u="none" strike="noStrike" kern="0" cap="none" spc="300" normalizeH="0" baseline="0" noProof="0">
              <a:ln>
                <a:noFill/>
              </a:ln>
              <a:solidFill>
                <a:srgbClr val="FFFFFF"/>
              </a:solidFill>
              <a:effectLst/>
              <a:uLnTx/>
              <a:uFillTx/>
              <a:latin typeface="Calibri"/>
              <a:ea typeface="Calibri"/>
              <a:cs typeface="Calibri"/>
            </a:endParaRP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300" normalizeH="0" baseline="0" noProof="0">
              <a:ln>
                <a:noFill/>
              </a:ln>
              <a:solidFill>
                <a:srgbClr val="FFFFFF"/>
              </a:solidFill>
              <a:effectLst/>
              <a:uLnTx/>
              <a:uFillTx/>
              <a:latin typeface="Calibri"/>
              <a:ea typeface="Calibri"/>
              <a:cs typeface="Calibri"/>
            </a:endParaRPr>
          </a:p>
          <a:p>
            <a:pPr algn="ctr"/>
            <a:br>
              <a:rPr lang="en-US" sz="1300" b="1" kern="0" spc="300">
                <a:latin typeface="Calibri"/>
                <a:ea typeface="Calibri"/>
                <a:cs typeface="Calibri"/>
              </a:rPr>
            </a:br>
            <a:endParaRPr lang="en-US" sz="1300" b="1" kern="0" spc="300">
              <a:latin typeface="Calibri"/>
              <a:ea typeface="Calibri"/>
              <a:cs typeface="Calibri"/>
            </a:endParaRPr>
          </a:p>
        </p:txBody>
      </p:sp>
    </p:spTree>
    <p:custDataLst>
      <p:custData r:id="rId1"/>
      <p:custData r:id="rId2"/>
    </p:custDataLst>
    <p:extLst>
      <p:ext uri="{BB962C8B-B14F-4D97-AF65-F5344CB8AC3E}">
        <p14:creationId xmlns:p14="http://schemas.microsoft.com/office/powerpoint/2010/main" val="345828365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439C83B-FE7C-2488-184D-522D2CDEF81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1D00D40-EDD5-0F27-39F3-C9382D53AD52}"/>
              </a:ext>
            </a:extLst>
          </p:cNvPr>
          <p:cNvPicPr>
            <a:picLocks noChangeAspect="1"/>
          </p:cNvPicPr>
          <p:nvPr/>
        </p:nvPicPr>
        <p:blipFill>
          <a:blip r:embed="rId5"/>
          <a:stretch>
            <a:fillRect/>
          </a:stretch>
        </p:blipFill>
        <p:spPr>
          <a:xfrm>
            <a:off x="395464" y="1327831"/>
            <a:ext cx="6341886" cy="5410190"/>
          </a:xfrm>
          <a:prstGeom prst="rect">
            <a:avLst/>
          </a:prstGeom>
        </p:spPr>
      </p:pic>
      <p:sp>
        <p:nvSpPr>
          <p:cNvPr id="5" name="TextBox 4">
            <a:extLst>
              <a:ext uri="{FF2B5EF4-FFF2-40B4-BE49-F238E27FC236}">
                <a16:creationId xmlns:a16="http://schemas.microsoft.com/office/drawing/2014/main" id="{04B2B179-4813-0A1F-F85A-BFA09F6E6F7F}"/>
              </a:ext>
            </a:extLst>
          </p:cNvPr>
          <p:cNvSpPr txBox="1"/>
          <p:nvPr/>
        </p:nvSpPr>
        <p:spPr>
          <a:xfrm>
            <a:off x="7325938" y="1497020"/>
            <a:ext cx="4669211" cy="2169825"/>
          </a:xfrm>
          <a:prstGeom prst="rect">
            <a:avLst/>
          </a:prstGeom>
          <a:noFill/>
        </p:spPr>
        <p:txBody>
          <a:bodyPr wrap="square">
            <a:spAutoFit/>
          </a:bodyPr>
          <a:lstStyle/>
          <a:p>
            <a:pPr algn="ctr"/>
            <a:r>
              <a:rPr lang="en-US" sz="2000" b="1" kern="0" spc="300">
                <a:solidFill>
                  <a:schemeClr val="accent4"/>
                </a:solidFill>
                <a:latin typeface="Aptos" panose="020B0004020202020204" pitchFamily="34" charset="0"/>
                <a:ea typeface="Calibri"/>
                <a:cs typeface="Calibri"/>
              </a:rPr>
              <a:t>Interactions Between Skills</a:t>
            </a:r>
            <a:br>
              <a:rPr lang="en-US" sz="1300" b="1" kern="0" spc="300">
                <a:latin typeface="Aptos" panose="020B0004020202020204" pitchFamily="34" charset="0"/>
                <a:ea typeface="Calibri"/>
                <a:cs typeface="Calibri"/>
              </a:rPr>
            </a:br>
            <a:br>
              <a:rPr lang="en-US" sz="1300" b="1" kern="0" spc="300">
                <a:latin typeface="Aptos" panose="020B0004020202020204" pitchFamily="34" charset="0"/>
                <a:ea typeface="Calibri"/>
                <a:cs typeface="Calibri"/>
              </a:rPr>
            </a:br>
            <a:br>
              <a:rPr lang="en-US" sz="1300" b="1" kern="0" spc="300">
                <a:latin typeface="Aptos" panose="020B0004020202020204" pitchFamily="34" charset="0"/>
                <a:ea typeface="Calibri"/>
                <a:cs typeface="Calibri"/>
              </a:rPr>
            </a:br>
            <a:r>
              <a:rPr lang="en-US" sz="1300" kern="0" spc="300">
                <a:solidFill>
                  <a:srgbClr val="FFFFFF"/>
                </a:solidFill>
                <a:latin typeface="Aptos" panose="020B0004020202020204" pitchFamily="34" charset="0"/>
                <a:ea typeface="Calibri"/>
                <a:cs typeface="Calibri"/>
              </a:rPr>
              <a:t>“Will adding a new skill to the bundle create </a:t>
            </a:r>
            <a:r>
              <a:rPr lang="en-US" sz="1300" kern="0" spc="300">
                <a:solidFill>
                  <a:schemeClr val="accent4"/>
                </a:solidFill>
                <a:latin typeface="Aptos" panose="020B0004020202020204" pitchFamily="34" charset="0"/>
                <a:ea typeface="Calibri"/>
                <a:cs typeface="Calibri"/>
              </a:rPr>
              <a:t>false triggers</a:t>
            </a:r>
            <a:r>
              <a:rPr lang="en-US" sz="1300" kern="0" spc="300">
                <a:solidFill>
                  <a:srgbClr val="FFFFFF"/>
                </a:solidFill>
                <a:latin typeface="Aptos" panose="020B0004020202020204" pitchFamily="34" charset="0"/>
                <a:ea typeface="Calibri"/>
                <a:cs typeface="Calibri"/>
              </a:rPr>
              <a:t>?”</a:t>
            </a:r>
          </a:p>
          <a:p>
            <a:pPr algn="ctr"/>
            <a:endParaRPr lang="en-US" sz="1300" kern="0" spc="300">
              <a:solidFill>
                <a:srgbClr val="FFFFFF"/>
              </a:solidFill>
              <a:latin typeface="Aptos" panose="020B0004020202020204" pitchFamily="34" charset="0"/>
              <a:ea typeface="Calibri"/>
              <a:cs typeface="Calibri"/>
            </a:endParaRPr>
          </a:p>
          <a:p>
            <a:pPr algn="ctr"/>
            <a:r>
              <a:rPr lang="en-US" sz="1300" kern="0" spc="300">
                <a:solidFill>
                  <a:srgbClr val="FFFFFF"/>
                </a:solidFill>
                <a:latin typeface="Aptos" panose="020B0004020202020204" pitchFamily="34" charset="0"/>
                <a:ea typeface="Calibri"/>
                <a:cs typeface="Calibri"/>
              </a:rPr>
              <a:t>“Will adding a new skill to the bundle create </a:t>
            </a:r>
            <a:r>
              <a:rPr lang="en-US" sz="1300" kern="0" spc="300">
                <a:solidFill>
                  <a:schemeClr val="accent4"/>
                </a:solidFill>
                <a:latin typeface="Aptos" panose="020B0004020202020204" pitchFamily="34" charset="0"/>
                <a:ea typeface="Calibri"/>
                <a:cs typeface="Calibri"/>
              </a:rPr>
              <a:t>missed triggers</a:t>
            </a:r>
            <a:r>
              <a:rPr lang="en-US" sz="1300" kern="0" spc="300">
                <a:solidFill>
                  <a:srgbClr val="FFFFFF"/>
                </a:solidFill>
                <a:latin typeface="Aptos" panose="020B0004020202020204" pitchFamily="34" charset="0"/>
                <a:ea typeface="Calibri"/>
                <a:cs typeface="Calibri"/>
              </a:rPr>
              <a:t>?”</a:t>
            </a:r>
            <a:br>
              <a:rPr lang="en-US" sz="1100" b="1" kern="0" spc="300">
                <a:solidFill>
                  <a:srgbClr val="FFFFFF"/>
                </a:solidFill>
                <a:latin typeface="Aptos" panose="020B0004020202020204" pitchFamily="34" charset="0"/>
                <a:ea typeface="Calibri"/>
                <a:cs typeface="Calibri"/>
              </a:rPr>
            </a:br>
            <a:br>
              <a:rPr lang="en-US" sz="1100" b="1" kern="0" spc="300">
                <a:solidFill>
                  <a:srgbClr val="FFFFFF"/>
                </a:solidFill>
                <a:latin typeface="Aptos" panose="020B0004020202020204" pitchFamily="34" charset="0"/>
                <a:ea typeface="Calibri"/>
                <a:cs typeface="Calibri"/>
              </a:rPr>
            </a:br>
            <a:endParaRPr lang="en-US" sz="1300" b="1" kern="0" spc="300">
              <a:latin typeface="Aptos" panose="020B0004020202020204" pitchFamily="34" charset="0"/>
              <a:ea typeface="Calibri"/>
              <a:cs typeface="Calibri"/>
            </a:endParaRPr>
          </a:p>
        </p:txBody>
      </p:sp>
      <p:sp>
        <p:nvSpPr>
          <p:cNvPr id="8" name="Title 1">
            <a:extLst>
              <a:ext uri="{FF2B5EF4-FFF2-40B4-BE49-F238E27FC236}">
                <a16:creationId xmlns:a16="http://schemas.microsoft.com/office/drawing/2014/main" id="{66546D27-934B-1CEC-F83A-F80EB2D0E763}"/>
              </a:ext>
            </a:extLst>
          </p:cNvPr>
          <p:cNvSpPr>
            <a:spLocks noGrp="1"/>
          </p:cNvSpPr>
          <p:nvPr>
            <p:ph type="title"/>
          </p:nvPr>
        </p:nvSpPr>
        <p:spPr>
          <a:xfrm>
            <a:off x="395464" y="500615"/>
            <a:ext cx="11018520" cy="430887"/>
          </a:xfrm>
        </p:spPr>
        <p:txBody>
          <a:bodyPr/>
          <a:lstStyle/>
          <a:p>
            <a:r>
              <a:rPr lang="en-US">
                <a:latin typeface="Calibri" panose="020F0502020204030204" pitchFamily="34" charset="0"/>
                <a:ea typeface="Calibri" panose="020F0502020204030204" pitchFamily="34" charset="0"/>
                <a:cs typeface="Calibri" panose="020F0502020204030204" pitchFamily="34" charset="0"/>
              </a:rPr>
              <a:t>AMD Skills – Skill Evaluation</a:t>
            </a:r>
          </a:p>
        </p:txBody>
      </p:sp>
      <p:sp>
        <p:nvSpPr>
          <p:cNvPr id="9" name="Text 0">
            <a:extLst>
              <a:ext uri="{FF2B5EF4-FFF2-40B4-BE49-F238E27FC236}">
                <a16:creationId xmlns:a16="http://schemas.microsoft.com/office/drawing/2014/main" id="{AD089526-F0B7-B07E-14C5-726DDCC952F0}"/>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sp>
        <p:nvSpPr>
          <p:cNvPr id="4" name="TextBox 3">
            <a:extLst>
              <a:ext uri="{FF2B5EF4-FFF2-40B4-BE49-F238E27FC236}">
                <a16:creationId xmlns:a16="http://schemas.microsoft.com/office/drawing/2014/main" id="{7F963692-FD70-FEE6-1EA4-0C8F380454BD}"/>
              </a:ext>
            </a:extLst>
          </p:cNvPr>
          <p:cNvSpPr txBox="1"/>
          <p:nvPr/>
        </p:nvSpPr>
        <p:spPr>
          <a:xfrm>
            <a:off x="7325938" y="4114485"/>
            <a:ext cx="4669211" cy="1246495"/>
          </a:xfrm>
          <a:prstGeom prst="rect">
            <a:avLst/>
          </a:prstGeom>
          <a:noFill/>
        </p:spPr>
        <p:txBody>
          <a:bodyPr wrap="square">
            <a:spAutoFit/>
          </a:bodyPr>
          <a:lstStyle/>
          <a:p>
            <a:pPr algn="ctr"/>
            <a:r>
              <a:rPr lang="en-US" sz="2000" b="1" kern="0" spc="300">
                <a:solidFill>
                  <a:schemeClr val="accent4"/>
                </a:solidFill>
                <a:latin typeface="Aptos" panose="020B0004020202020204" pitchFamily="34" charset="0"/>
                <a:ea typeface="Calibri"/>
                <a:cs typeface="Calibri"/>
              </a:rPr>
              <a:t>Lifespan Checks </a:t>
            </a:r>
            <a:br>
              <a:rPr lang="en-US" sz="2000" b="1" kern="0" spc="300">
                <a:solidFill>
                  <a:schemeClr val="accent4"/>
                </a:solidFill>
                <a:latin typeface="Aptos" panose="020B0004020202020204" pitchFamily="34" charset="0"/>
                <a:ea typeface="Calibri"/>
                <a:cs typeface="Calibri"/>
              </a:rPr>
            </a:br>
            <a:r>
              <a:rPr lang="en-US" sz="1600" b="1" kern="0" spc="300">
                <a:solidFill>
                  <a:schemeClr val="accent4"/>
                </a:solidFill>
                <a:latin typeface="Aptos" panose="020B0004020202020204" pitchFamily="34" charset="0"/>
                <a:ea typeface="Calibri"/>
                <a:cs typeface="Calibri"/>
              </a:rPr>
              <a:t>(Coming Soon)</a:t>
            </a:r>
            <a:br>
              <a:rPr lang="en-US" sz="1300" b="1" kern="0" spc="300">
                <a:latin typeface="Aptos" panose="020B0004020202020204" pitchFamily="34" charset="0"/>
                <a:ea typeface="Calibri"/>
                <a:cs typeface="Calibri"/>
              </a:rPr>
            </a:br>
            <a:br>
              <a:rPr lang="en-US" sz="1300" b="1" kern="0" spc="300">
                <a:latin typeface="Aptos" panose="020B0004020202020204" pitchFamily="34" charset="0"/>
                <a:ea typeface="Calibri"/>
                <a:cs typeface="Calibri"/>
              </a:rPr>
            </a:br>
            <a:r>
              <a:rPr lang="en-US" sz="1300" kern="0" spc="300">
                <a:latin typeface="Aptos" panose="020B0004020202020204" pitchFamily="34" charset="0"/>
                <a:ea typeface="Calibri"/>
                <a:cs typeface="Calibri"/>
              </a:rPr>
              <a:t>How do we know how close a skill is to the end of its lifespan?</a:t>
            </a:r>
          </a:p>
        </p:txBody>
      </p:sp>
    </p:spTree>
    <p:custDataLst>
      <p:custData r:id="rId1"/>
      <p:custData r:id="rId2"/>
    </p:custDataLst>
    <p:extLst>
      <p:ext uri="{BB962C8B-B14F-4D97-AF65-F5344CB8AC3E}">
        <p14:creationId xmlns:p14="http://schemas.microsoft.com/office/powerpoint/2010/main" val="399273552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40642C-E147-AE33-1B8B-5074BB17AA7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237C8D1-AD66-FF01-F019-6D3E5F251C19}"/>
              </a:ext>
            </a:extLst>
          </p:cNvPr>
          <p:cNvSpPr txBox="1">
            <a:spLocks/>
          </p:cNvSpPr>
          <p:nvPr/>
        </p:nvSpPr>
        <p:spPr>
          <a:xfrm>
            <a:off x="395464" y="500615"/>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Calibri"/>
                <a:ea typeface="Calibri"/>
                <a:cs typeface="Calibri"/>
              </a:rPr>
              <a:t>AMD Skills – Skill Profiling Tools (Coming Soon)</a:t>
            </a:r>
          </a:p>
        </p:txBody>
      </p:sp>
      <p:sp>
        <p:nvSpPr>
          <p:cNvPr id="7" name="Text 0">
            <a:extLst>
              <a:ext uri="{FF2B5EF4-FFF2-40B4-BE49-F238E27FC236}">
                <a16:creationId xmlns:a16="http://schemas.microsoft.com/office/drawing/2014/main" id="{9FDD8F35-1E70-BDD2-9F81-BCA2CDE27ABA}"/>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pic>
        <p:nvPicPr>
          <p:cNvPr id="3" name="Picture 2">
            <a:extLst>
              <a:ext uri="{FF2B5EF4-FFF2-40B4-BE49-F238E27FC236}">
                <a16:creationId xmlns:a16="http://schemas.microsoft.com/office/drawing/2014/main" id="{4069C863-27D1-2C22-D2EC-BD268F4A3718}"/>
              </a:ext>
            </a:extLst>
          </p:cNvPr>
          <p:cNvPicPr>
            <a:picLocks noChangeAspect="1"/>
          </p:cNvPicPr>
          <p:nvPr/>
        </p:nvPicPr>
        <p:blipFill>
          <a:blip r:embed="rId5"/>
          <a:stretch>
            <a:fillRect/>
          </a:stretch>
        </p:blipFill>
        <p:spPr>
          <a:xfrm>
            <a:off x="3636194" y="1319171"/>
            <a:ext cx="8320675" cy="4886608"/>
          </a:xfrm>
          <a:prstGeom prst="rect">
            <a:avLst/>
          </a:prstGeom>
        </p:spPr>
      </p:pic>
      <p:sp>
        <p:nvSpPr>
          <p:cNvPr id="6" name="TextBox 5">
            <a:extLst>
              <a:ext uri="{FF2B5EF4-FFF2-40B4-BE49-F238E27FC236}">
                <a16:creationId xmlns:a16="http://schemas.microsoft.com/office/drawing/2014/main" id="{06174648-B3F3-ABD9-3BDB-B2F9B4ED6BEF}"/>
              </a:ext>
            </a:extLst>
          </p:cNvPr>
          <p:cNvSpPr txBox="1"/>
          <p:nvPr/>
        </p:nvSpPr>
        <p:spPr>
          <a:xfrm>
            <a:off x="405355" y="3177699"/>
            <a:ext cx="2878183" cy="1169551"/>
          </a:xfrm>
          <a:prstGeom prst="rect">
            <a:avLst/>
          </a:prstGeom>
          <a:noFill/>
        </p:spPr>
        <p:txBody>
          <a:bodyPr wrap="square">
            <a:spAutoFit/>
          </a:bodyPr>
          <a:lstStyle/>
          <a:p>
            <a:pPr algn="ctr"/>
            <a:r>
              <a:rPr lang="en-US" sz="1400">
                <a:solidFill>
                  <a:srgbClr val="F0F6FC"/>
                </a:solidFill>
                <a:latin typeface="Aptos" panose="020B0004020202020204" pitchFamily="34" charset="0"/>
              </a:rPr>
              <a:t>V</a:t>
            </a:r>
            <a:r>
              <a:rPr lang="en-US" sz="1400" b="0" i="0">
                <a:solidFill>
                  <a:srgbClr val="F0F6FC"/>
                </a:solidFill>
                <a:effectLst/>
                <a:latin typeface="Aptos" panose="020B0004020202020204" pitchFamily="34" charset="0"/>
              </a:rPr>
              <a:t>isualize, debug, and understand </a:t>
            </a:r>
            <a:r>
              <a:rPr lang="en-US" sz="1400" b="0" i="0">
                <a:solidFill>
                  <a:schemeClr val="accent4"/>
                </a:solidFill>
                <a:effectLst/>
                <a:latin typeface="Consolas" panose="020B0609020204030204" pitchFamily="49" charset="0"/>
              </a:rPr>
              <a:t>skill behavior</a:t>
            </a:r>
            <a:br>
              <a:rPr lang="en-US" sz="1400">
                <a:solidFill>
                  <a:srgbClr val="F0F6FC"/>
                </a:solidFill>
                <a:latin typeface="Aptos" panose="020B0004020202020204" pitchFamily="34" charset="0"/>
              </a:rPr>
            </a:br>
            <a:br>
              <a:rPr lang="en-US" sz="1400">
                <a:solidFill>
                  <a:srgbClr val="F0F6FC"/>
                </a:solidFill>
                <a:latin typeface="Aptos" panose="020B0004020202020204" pitchFamily="34" charset="0"/>
              </a:rPr>
            </a:br>
            <a:r>
              <a:rPr lang="en-US" sz="1400">
                <a:solidFill>
                  <a:srgbClr val="F0F6FC"/>
                </a:solidFill>
                <a:latin typeface="Aptos" panose="020B0004020202020204" pitchFamily="34" charset="0"/>
              </a:rPr>
              <a:t>V</a:t>
            </a:r>
            <a:r>
              <a:rPr lang="en-US" sz="1400" b="0" i="0">
                <a:solidFill>
                  <a:srgbClr val="F0F6FC"/>
                </a:solidFill>
                <a:effectLst/>
                <a:latin typeface="Aptos" panose="020B0004020202020204" pitchFamily="34" charset="0"/>
              </a:rPr>
              <a:t>isual insights into how agents execute tasks and make decisions</a:t>
            </a:r>
            <a:endParaRPr lang="en-US" sz="1800">
              <a:latin typeface="Aptos" panose="020B0004020202020204" pitchFamily="34" charset="0"/>
            </a:endParaRPr>
          </a:p>
        </p:txBody>
      </p:sp>
    </p:spTree>
    <p:custDataLst>
      <p:custData r:id="rId1"/>
      <p:custData r:id="rId2"/>
    </p:custDataLst>
    <p:extLst>
      <p:ext uri="{BB962C8B-B14F-4D97-AF65-F5344CB8AC3E}">
        <p14:creationId xmlns:p14="http://schemas.microsoft.com/office/powerpoint/2010/main" val="81540546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rompt">
            <a:extLst>
              <a:ext uri="{FF2B5EF4-FFF2-40B4-BE49-F238E27FC236}">
                <a16:creationId xmlns:a16="http://schemas.microsoft.com/office/drawing/2014/main" id="{EC631864-4E8A-4B5E-8563-A4DEC99044C6}"/>
              </a:ext>
            </a:extLst>
          </p:cNvPr>
          <p:cNvSpPr>
            <a:spLocks noGrp="1"/>
          </p:cNvSpPr>
          <p:nvPr/>
        </p:nvSpPr>
        <p:spPr>
          <a:xfrm>
            <a:off x="457200" y="1438275"/>
            <a:ext cx="11277600" cy="323850"/>
          </a:xfrm>
          <a:prstGeom prst="rect">
            <a:avLst/>
          </a:prstGeom>
          <a:noFill/>
          <a:ln w="0">
            <a:noFill/>
          </a:ln>
        </p:spPr>
        <p:txBody>
          <a:bodyPr wrap="none" lIns="0" tIns="0" rIns="0" bIns="0" anchor="t">
            <a:noAutofit/>
          </a:bodyPr>
          <a:lstStyle>
            <a:defPPr>
              <a:defRPr sz="1950" b="0">
                <a:solidFill>
                  <a:srgbClr val="FFFFFF"/>
                </a:solidFill>
                <a:latin typeface="Arial"/>
                <a:ea typeface="Arial"/>
                <a:cs typeface="Arial"/>
              </a:defRPr>
            </a:defPPr>
            <a:lvl1pPr>
              <a:buNone/>
              <a:defRPr sz="1950" b="0">
                <a:solidFill>
                  <a:srgbClr val="FFFFFF"/>
                </a:solidFill>
                <a:latin typeface="Arial"/>
                <a:ea typeface="Arial"/>
                <a:cs typeface="Arial"/>
              </a:defRPr>
            </a:lvl1pPr>
            <a:lvl2pPr>
              <a:buNone/>
              <a:defRPr sz="1950" b="0">
                <a:solidFill>
                  <a:srgbClr val="FFFFFF"/>
                </a:solidFill>
                <a:latin typeface="Arial"/>
                <a:ea typeface="Arial"/>
                <a:cs typeface="Arial"/>
              </a:defRPr>
            </a:lvl2pPr>
            <a:lvl3pPr>
              <a:buNone/>
              <a:defRPr sz="1950" b="0">
                <a:solidFill>
                  <a:srgbClr val="FFFFFF"/>
                </a:solidFill>
                <a:latin typeface="Arial"/>
                <a:ea typeface="Arial"/>
                <a:cs typeface="Arial"/>
              </a:defRPr>
            </a:lvl3pPr>
            <a:lvl4pPr>
              <a:buNone/>
              <a:defRPr sz="1950" b="0">
                <a:solidFill>
                  <a:srgbClr val="FFFFFF"/>
                </a:solidFill>
                <a:latin typeface="Arial"/>
                <a:ea typeface="Arial"/>
                <a:cs typeface="Arial"/>
              </a:defRPr>
            </a:lvl4pPr>
            <a:lvl5pPr>
              <a:buNone/>
              <a:defRPr sz="1950" b="0">
                <a:solidFill>
                  <a:srgbClr val="FFFFFF"/>
                </a:solidFill>
                <a:latin typeface="Arial"/>
                <a:ea typeface="Arial"/>
                <a:cs typeface="Arial"/>
              </a:defRPr>
            </a:lvl5pPr>
            <a:lvl6pPr>
              <a:buNone/>
              <a:defRPr sz="1950" b="0">
                <a:solidFill>
                  <a:srgbClr val="FFFFFF"/>
                </a:solidFill>
                <a:latin typeface="Arial"/>
                <a:ea typeface="Arial"/>
                <a:cs typeface="Arial"/>
              </a:defRPr>
            </a:lvl6pPr>
            <a:lvl7pPr>
              <a:buNone/>
              <a:defRPr sz="1950" b="0">
                <a:solidFill>
                  <a:srgbClr val="FFFFFF"/>
                </a:solidFill>
                <a:latin typeface="Arial"/>
                <a:ea typeface="Arial"/>
                <a:cs typeface="Arial"/>
              </a:defRPr>
            </a:lvl7pPr>
            <a:lvl8pPr>
              <a:buNone/>
              <a:defRPr sz="1950" b="0">
                <a:solidFill>
                  <a:srgbClr val="FFFFFF"/>
                </a:solidFill>
                <a:latin typeface="Arial"/>
                <a:ea typeface="Arial"/>
                <a:cs typeface="Arial"/>
              </a:defRPr>
            </a:lvl8pPr>
            <a:lvl9pPr>
              <a:buNone/>
              <a:defRPr sz="1950" b="0">
                <a:solidFill>
                  <a:srgbClr val="FFFFFF"/>
                </a:solidFill>
                <a:latin typeface="Arial"/>
                <a:ea typeface="Arial"/>
                <a:cs typeface="Arial"/>
              </a:defRPr>
            </a:lvl9pPr>
          </a:lstStyle>
          <a:p>
            <a:pPr>
              <a:buNone/>
              <a:defRPr sz="1950" b="0">
                <a:solidFill>
                  <a:srgbClr val="FFFFFF"/>
                </a:solidFill>
                <a:latin typeface="Arial"/>
                <a:ea typeface="Arial"/>
                <a:cs typeface="Arial"/>
              </a:defRPr>
            </a:pPr>
            <a:r>
              <a:rPr sz="1950" b="0">
                <a:solidFill>
                  <a:srgbClr val="FFFFFF"/>
                </a:solidFill>
                <a:latin typeface="Arial"/>
                <a:ea typeface="Arial"/>
                <a:cs typeface="Arial"/>
              </a:rPr>
              <a:t>“Help me quantize Qwen/Qwen3-8B to FP8…”</a:t>
            </a:r>
          </a:p>
        </p:txBody>
      </p:sp>
      <p:pic>
        <p:nvPicPr>
          <p:cNvPr id="4" name="Picture 3">
            <a:extLst>
              <a:ext uri="{FF2B5EF4-FFF2-40B4-BE49-F238E27FC236}">
                <a16:creationId xmlns:a16="http://schemas.microsoft.com/office/drawing/2014/main" id="{7836AE94-21BA-46FC-A9E0-3B9CEBBA7A62}"/>
              </a:ext>
            </a:extLst>
          </p:cNvPr>
          <p:cNvPicPr>
            <a:picLocks noChangeAspect="1"/>
          </p:cNvPicPr>
          <p:nvPr/>
        </p:nvPicPr>
        <p:blipFill>
          <a:blip r:embed="rId3"/>
          <a:stretch/>
        </p:blipFill>
        <p:spPr>
          <a:xfrm>
            <a:off x="457200" y="1962150"/>
            <a:ext cx="8153400" cy="4586288"/>
          </a:xfrm>
          <a:prstGeom prst="rect">
            <a:avLst/>
          </a:prstGeom>
        </p:spPr>
      </p:pic>
      <p:sp>
        <p:nvSpPr>
          <p:cNvPr id="5" name="output-label">
            <a:extLst>
              <a:ext uri="{FF2B5EF4-FFF2-40B4-BE49-F238E27FC236}">
                <a16:creationId xmlns:a16="http://schemas.microsoft.com/office/drawing/2014/main" id="{59BF40F3-5A53-4772-9887-F5F3C249B196}"/>
              </a:ext>
            </a:extLst>
          </p:cNvPr>
          <p:cNvSpPr>
            <a:spLocks noGrp="1"/>
          </p:cNvSpPr>
          <p:nvPr/>
        </p:nvSpPr>
        <p:spPr>
          <a:xfrm>
            <a:off x="9010650" y="2019300"/>
            <a:ext cx="2724150" cy="266700"/>
          </a:xfrm>
          <a:prstGeom prst="rect">
            <a:avLst/>
          </a:prstGeom>
          <a:noFill/>
          <a:ln w="0">
            <a:noFill/>
          </a:ln>
        </p:spPr>
        <p:txBody>
          <a:bodyPr wrap="none" lIns="0" tIns="0" rIns="0" bIns="0" anchor="t">
            <a:noAutofit/>
          </a:bodyPr>
          <a:lstStyle>
            <a:defPPr>
              <a:defRPr sz="1350" b="1">
                <a:solidFill>
                  <a:srgbClr val="B9BFCC"/>
                </a:solidFill>
                <a:latin typeface="Arial"/>
                <a:ea typeface="Arial"/>
                <a:cs typeface="Arial"/>
              </a:defRPr>
            </a:defPPr>
            <a:lvl1pPr>
              <a:buNone/>
              <a:defRPr sz="1350" b="1">
                <a:solidFill>
                  <a:srgbClr val="B9BFCC"/>
                </a:solidFill>
                <a:latin typeface="Arial"/>
                <a:ea typeface="Arial"/>
                <a:cs typeface="Arial"/>
              </a:defRPr>
            </a:lvl1pPr>
            <a:lvl2pPr>
              <a:buNone/>
              <a:defRPr sz="1350" b="1">
                <a:solidFill>
                  <a:srgbClr val="B9BFCC"/>
                </a:solidFill>
                <a:latin typeface="Arial"/>
                <a:ea typeface="Arial"/>
                <a:cs typeface="Arial"/>
              </a:defRPr>
            </a:lvl2pPr>
            <a:lvl3pPr>
              <a:buNone/>
              <a:defRPr sz="1350" b="1">
                <a:solidFill>
                  <a:srgbClr val="B9BFCC"/>
                </a:solidFill>
                <a:latin typeface="Arial"/>
                <a:ea typeface="Arial"/>
                <a:cs typeface="Arial"/>
              </a:defRPr>
            </a:lvl3pPr>
            <a:lvl4pPr>
              <a:buNone/>
              <a:defRPr sz="1350" b="1">
                <a:solidFill>
                  <a:srgbClr val="B9BFCC"/>
                </a:solidFill>
                <a:latin typeface="Arial"/>
                <a:ea typeface="Arial"/>
                <a:cs typeface="Arial"/>
              </a:defRPr>
            </a:lvl4pPr>
            <a:lvl5pPr>
              <a:buNone/>
              <a:defRPr sz="1350" b="1">
                <a:solidFill>
                  <a:srgbClr val="B9BFCC"/>
                </a:solidFill>
                <a:latin typeface="Arial"/>
                <a:ea typeface="Arial"/>
                <a:cs typeface="Arial"/>
              </a:defRPr>
            </a:lvl5pPr>
            <a:lvl6pPr>
              <a:buNone/>
              <a:defRPr sz="1350" b="1">
                <a:solidFill>
                  <a:srgbClr val="B9BFCC"/>
                </a:solidFill>
                <a:latin typeface="Arial"/>
                <a:ea typeface="Arial"/>
                <a:cs typeface="Arial"/>
              </a:defRPr>
            </a:lvl6pPr>
            <a:lvl7pPr>
              <a:buNone/>
              <a:defRPr sz="1350" b="1">
                <a:solidFill>
                  <a:srgbClr val="B9BFCC"/>
                </a:solidFill>
                <a:latin typeface="Arial"/>
                <a:ea typeface="Arial"/>
                <a:cs typeface="Arial"/>
              </a:defRPr>
            </a:lvl7pPr>
            <a:lvl8pPr>
              <a:buNone/>
              <a:defRPr sz="1350" b="1">
                <a:solidFill>
                  <a:srgbClr val="B9BFCC"/>
                </a:solidFill>
                <a:latin typeface="Arial"/>
                <a:ea typeface="Arial"/>
                <a:cs typeface="Arial"/>
              </a:defRPr>
            </a:lvl8pPr>
            <a:lvl9pPr>
              <a:buNone/>
              <a:defRPr sz="1350" b="1">
                <a:solidFill>
                  <a:srgbClr val="B9BFCC"/>
                </a:solidFill>
                <a:latin typeface="Arial"/>
                <a:ea typeface="Arial"/>
                <a:cs typeface="Arial"/>
              </a:defRPr>
            </a:lvl9pPr>
          </a:lstStyle>
          <a:p>
            <a:pPr>
              <a:buNone/>
              <a:defRPr sz="1350" b="1">
                <a:solidFill>
                  <a:srgbClr val="B9BFCC"/>
                </a:solidFill>
                <a:latin typeface="Arial"/>
                <a:ea typeface="Arial"/>
                <a:cs typeface="Arial"/>
              </a:defRPr>
            </a:pPr>
            <a:r>
              <a:rPr sz="1800" b="1">
                <a:solidFill>
                  <a:srgbClr val="B9BFCC"/>
                </a:solidFill>
                <a:latin typeface="Arial"/>
                <a:ea typeface="Arial"/>
                <a:cs typeface="Arial"/>
              </a:rPr>
              <a:t>GUIDED PTQ WORKFLOW</a:t>
            </a:r>
          </a:p>
        </p:txBody>
      </p:sp>
      <p:sp>
        <p:nvSpPr>
          <p:cNvPr id="6" name="size">
            <a:extLst>
              <a:ext uri="{FF2B5EF4-FFF2-40B4-BE49-F238E27FC236}">
                <a16:creationId xmlns:a16="http://schemas.microsoft.com/office/drawing/2014/main" id="{2492B3A6-F866-4B33-A6C5-F2771204B73E}"/>
              </a:ext>
            </a:extLst>
          </p:cNvPr>
          <p:cNvSpPr>
            <a:spLocks noGrp="1"/>
          </p:cNvSpPr>
          <p:nvPr/>
        </p:nvSpPr>
        <p:spPr>
          <a:xfrm>
            <a:off x="9010650" y="2447925"/>
            <a:ext cx="2724150" cy="342900"/>
          </a:xfrm>
          <a:prstGeom prst="rect">
            <a:avLst/>
          </a:prstGeom>
          <a:noFill/>
          <a:ln w="0">
            <a:noFill/>
          </a:ln>
        </p:spPr>
        <p:txBody>
          <a:bodyPr wrap="none" lIns="0" tIns="0" rIns="0" bIns="0" anchor="t">
            <a:noAutofit/>
          </a:bodyPr>
          <a:lstStyle>
            <a:defPPr>
              <a:defRPr sz="1950" b="1">
                <a:solidFill>
                  <a:srgbClr val="FF5A66"/>
                </a:solidFill>
                <a:latin typeface="Arial"/>
                <a:ea typeface="Arial"/>
                <a:cs typeface="Arial"/>
              </a:defRPr>
            </a:defPPr>
            <a:lvl1pPr>
              <a:buNone/>
              <a:defRPr sz="3900" b="1">
                <a:solidFill>
                  <a:srgbClr val="FF5A66"/>
                </a:solidFill>
                <a:latin typeface="Arial"/>
                <a:ea typeface="Arial"/>
                <a:cs typeface="Arial"/>
              </a:defRPr>
            </a:lvl1pPr>
            <a:lvl2pPr>
              <a:buNone/>
              <a:defRPr sz="3900" b="1">
                <a:solidFill>
                  <a:srgbClr val="FF5A66"/>
                </a:solidFill>
                <a:latin typeface="Arial"/>
                <a:ea typeface="Arial"/>
                <a:cs typeface="Arial"/>
              </a:defRPr>
            </a:lvl2pPr>
            <a:lvl3pPr>
              <a:buNone/>
              <a:defRPr sz="3900" b="1">
                <a:solidFill>
                  <a:srgbClr val="FF5A66"/>
                </a:solidFill>
                <a:latin typeface="Arial"/>
                <a:ea typeface="Arial"/>
                <a:cs typeface="Arial"/>
              </a:defRPr>
            </a:lvl3pPr>
            <a:lvl4pPr>
              <a:buNone/>
              <a:defRPr sz="3900" b="1">
                <a:solidFill>
                  <a:srgbClr val="FF5A66"/>
                </a:solidFill>
                <a:latin typeface="Arial"/>
                <a:ea typeface="Arial"/>
                <a:cs typeface="Arial"/>
              </a:defRPr>
            </a:lvl4pPr>
            <a:lvl5pPr>
              <a:buNone/>
              <a:defRPr sz="3900" b="1">
                <a:solidFill>
                  <a:srgbClr val="FF5A66"/>
                </a:solidFill>
                <a:latin typeface="Arial"/>
                <a:ea typeface="Arial"/>
                <a:cs typeface="Arial"/>
              </a:defRPr>
            </a:lvl5pPr>
            <a:lvl6pPr>
              <a:buNone/>
              <a:defRPr sz="3900" b="1">
                <a:solidFill>
                  <a:srgbClr val="FF5A66"/>
                </a:solidFill>
                <a:latin typeface="Arial"/>
                <a:ea typeface="Arial"/>
                <a:cs typeface="Arial"/>
              </a:defRPr>
            </a:lvl6pPr>
            <a:lvl7pPr>
              <a:buNone/>
              <a:defRPr sz="3900" b="1">
                <a:solidFill>
                  <a:srgbClr val="FF5A66"/>
                </a:solidFill>
                <a:latin typeface="Arial"/>
                <a:ea typeface="Arial"/>
                <a:cs typeface="Arial"/>
              </a:defRPr>
            </a:lvl7pPr>
            <a:lvl8pPr>
              <a:buNone/>
              <a:defRPr sz="3900" b="1">
                <a:solidFill>
                  <a:srgbClr val="FF5A66"/>
                </a:solidFill>
                <a:latin typeface="Arial"/>
                <a:ea typeface="Arial"/>
                <a:cs typeface="Arial"/>
              </a:defRPr>
            </a:lvl8pPr>
            <a:lvl9pPr>
              <a:buNone/>
              <a:defRPr sz="3900" b="1">
                <a:solidFill>
                  <a:srgbClr val="FF5A66"/>
                </a:solidFill>
                <a:latin typeface="Arial"/>
                <a:ea typeface="Arial"/>
                <a:cs typeface="Arial"/>
              </a:defRPr>
            </a:lvl9pPr>
          </a:lstStyle>
          <a:p>
            <a:pPr>
              <a:buNone/>
              <a:defRPr sz="1950" b="1">
                <a:solidFill>
                  <a:srgbClr val="FF5A66"/>
                </a:solidFill>
                <a:latin typeface="Arial"/>
                <a:ea typeface="Arial"/>
                <a:cs typeface="Arial"/>
              </a:defRPr>
            </a:pPr>
            <a:r>
              <a:rPr sz="1950" b="1">
                <a:solidFill>
                  <a:srgbClr val="FF5A66"/>
                </a:solidFill>
                <a:latin typeface="Arial"/>
                <a:ea typeface="Arial"/>
                <a:cs typeface="Arial"/>
              </a:rPr>
              <a:t>1  Model intake</a:t>
            </a:r>
          </a:p>
        </p:txBody>
      </p:sp>
      <p:sp>
        <p:nvSpPr>
          <p:cNvPr id="7" name="size-label">
            <a:extLst>
              <a:ext uri="{FF2B5EF4-FFF2-40B4-BE49-F238E27FC236}">
                <a16:creationId xmlns:a16="http://schemas.microsoft.com/office/drawing/2014/main" id="{6F760BC7-3EB8-4030-9894-B35D08A26E12}"/>
              </a:ext>
            </a:extLst>
          </p:cNvPr>
          <p:cNvSpPr>
            <a:spLocks noGrp="1"/>
          </p:cNvSpPr>
          <p:nvPr/>
        </p:nvSpPr>
        <p:spPr>
          <a:xfrm>
            <a:off x="9010650" y="3028950"/>
            <a:ext cx="2724150" cy="342900"/>
          </a:xfrm>
          <a:prstGeom prst="rect">
            <a:avLst/>
          </a:prstGeom>
          <a:noFill/>
          <a:ln w="0">
            <a:noFill/>
          </a:ln>
        </p:spPr>
        <p:txBody>
          <a:bodyPr wrap="none" lIns="0" tIns="0" rIns="0" bIns="0" anchor="t">
            <a:noAutofit/>
          </a:bodyPr>
          <a:lstStyle>
            <a:defPPr>
              <a:defRPr sz="1950" b="1">
                <a:solidFill>
                  <a:srgbClr val="FF5A66"/>
                </a:solidFill>
                <a:latin typeface="Arial"/>
                <a:ea typeface="Arial"/>
                <a:cs typeface="Arial"/>
              </a:defRPr>
            </a:defPPr>
            <a:lvl1pPr>
              <a:buNone/>
              <a:defRPr sz="1800" b="0">
                <a:solidFill>
                  <a:srgbClr val="F6F7FB"/>
                </a:solidFill>
                <a:latin typeface="Arial"/>
                <a:ea typeface="Arial"/>
                <a:cs typeface="Arial"/>
              </a:defRPr>
            </a:lvl1pPr>
            <a:lvl2pPr>
              <a:buNone/>
              <a:defRPr sz="1800" b="0">
                <a:solidFill>
                  <a:srgbClr val="F6F7FB"/>
                </a:solidFill>
                <a:latin typeface="Arial"/>
                <a:ea typeface="Arial"/>
                <a:cs typeface="Arial"/>
              </a:defRPr>
            </a:lvl2pPr>
            <a:lvl3pPr>
              <a:buNone/>
              <a:defRPr sz="1800" b="0">
                <a:solidFill>
                  <a:srgbClr val="F6F7FB"/>
                </a:solidFill>
                <a:latin typeface="Arial"/>
                <a:ea typeface="Arial"/>
                <a:cs typeface="Arial"/>
              </a:defRPr>
            </a:lvl3pPr>
            <a:lvl4pPr>
              <a:buNone/>
              <a:defRPr sz="1800" b="0">
                <a:solidFill>
                  <a:srgbClr val="F6F7FB"/>
                </a:solidFill>
                <a:latin typeface="Arial"/>
                <a:ea typeface="Arial"/>
                <a:cs typeface="Arial"/>
              </a:defRPr>
            </a:lvl4pPr>
            <a:lvl5pPr>
              <a:buNone/>
              <a:defRPr sz="1800" b="0">
                <a:solidFill>
                  <a:srgbClr val="F6F7FB"/>
                </a:solidFill>
                <a:latin typeface="Arial"/>
                <a:ea typeface="Arial"/>
                <a:cs typeface="Arial"/>
              </a:defRPr>
            </a:lvl5pPr>
            <a:lvl6pPr>
              <a:buNone/>
              <a:defRPr sz="1800" b="0">
                <a:solidFill>
                  <a:srgbClr val="F6F7FB"/>
                </a:solidFill>
                <a:latin typeface="Arial"/>
                <a:ea typeface="Arial"/>
                <a:cs typeface="Arial"/>
              </a:defRPr>
            </a:lvl6pPr>
            <a:lvl7pPr>
              <a:buNone/>
              <a:defRPr sz="1800" b="0">
                <a:solidFill>
                  <a:srgbClr val="F6F7FB"/>
                </a:solidFill>
                <a:latin typeface="Arial"/>
                <a:ea typeface="Arial"/>
                <a:cs typeface="Arial"/>
              </a:defRPr>
            </a:lvl7pPr>
            <a:lvl8pPr>
              <a:buNone/>
              <a:defRPr sz="1800" b="0">
                <a:solidFill>
                  <a:srgbClr val="F6F7FB"/>
                </a:solidFill>
                <a:latin typeface="Arial"/>
                <a:ea typeface="Arial"/>
                <a:cs typeface="Arial"/>
              </a:defRPr>
            </a:lvl8pPr>
            <a:lvl9pPr>
              <a:buNone/>
              <a:defRPr sz="1800" b="0">
                <a:solidFill>
                  <a:srgbClr val="F6F7FB"/>
                </a:solidFill>
                <a:latin typeface="Arial"/>
                <a:ea typeface="Arial"/>
                <a:cs typeface="Arial"/>
              </a:defRPr>
            </a:lvl9pPr>
          </a:lstStyle>
          <a:p>
            <a:pPr>
              <a:buNone/>
              <a:defRPr sz="1950" b="1">
                <a:solidFill>
                  <a:srgbClr val="FF5A66"/>
                </a:solidFill>
                <a:latin typeface="Arial"/>
                <a:ea typeface="Arial"/>
                <a:cs typeface="Arial"/>
              </a:defRPr>
            </a:pPr>
            <a:r>
              <a:rPr sz="1950" b="1">
                <a:solidFill>
                  <a:srgbClr val="FF5A66"/>
                </a:solidFill>
                <a:latin typeface="Arial"/>
                <a:ea typeface="Arial"/>
                <a:cs typeface="Arial"/>
              </a:rPr>
              <a:t>2  Quantization plan</a:t>
            </a:r>
          </a:p>
        </p:txBody>
      </p:sp>
      <p:sp>
        <p:nvSpPr>
          <p:cNvPr id="8" name="layers">
            <a:extLst>
              <a:ext uri="{FF2B5EF4-FFF2-40B4-BE49-F238E27FC236}">
                <a16:creationId xmlns:a16="http://schemas.microsoft.com/office/drawing/2014/main" id="{9D449E33-5B99-463A-A362-16A580E1FD38}"/>
              </a:ext>
            </a:extLst>
          </p:cNvPr>
          <p:cNvSpPr>
            <a:spLocks noGrp="1"/>
          </p:cNvSpPr>
          <p:nvPr/>
        </p:nvSpPr>
        <p:spPr>
          <a:xfrm>
            <a:off x="9010650" y="3609975"/>
            <a:ext cx="2724150" cy="342900"/>
          </a:xfrm>
          <a:prstGeom prst="rect">
            <a:avLst/>
          </a:prstGeom>
          <a:noFill/>
          <a:ln w="0">
            <a:noFill/>
          </a:ln>
        </p:spPr>
        <p:txBody>
          <a:bodyPr wrap="none" lIns="0" tIns="0" rIns="0" bIns="0" anchor="t">
            <a:noAutofit/>
          </a:bodyPr>
          <a:lstStyle>
            <a:defPPr>
              <a:defRPr sz="1950" b="1">
                <a:solidFill>
                  <a:srgbClr val="FF5A66"/>
                </a:solidFill>
                <a:latin typeface="Arial"/>
                <a:ea typeface="Arial"/>
                <a:cs typeface="Arial"/>
              </a:defRPr>
            </a:defPPr>
            <a:lvl1pPr>
              <a:buNone/>
              <a:defRPr sz="3450" b="1">
                <a:solidFill>
                  <a:srgbClr val="FF5A66"/>
                </a:solidFill>
                <a:latin typeface="Arial"/>
                <a:ea typeface="Arial"/>
                <a:cs typeface="Arial"/>
              </a:defRPr>
            </a:lvl1pPr>
            <a:lvl2pPr>
              <a:buNone/>
              <a:defRPr sz="3450" b="1">
                <a:solidFill>
                  <a:srgbClr val="FF5A66"/>
                </a:solidFill>
                <a:latin typeface="Arial"/>
                <a:ea typeface="Arial"/>
                <a:cs typeface="Arial"/>
              </a:defRPr>
            </a:lvl2pPr>
            <a:lvl3pPr>
              <a:buNone/>
              <a:defRPr sz="3450" b="1">
                <a:solidFill>
                  <a:srgbClr val="FF5A66"/>
                </a:solidFill>
                <a:latin typeface="Arial"/>
                <a:ea typeface="Arial"/>
                <a:cs typeface="Arial"/>
              </a:defRPr>
            </a:lvl3pPr>
            <a:lvl4pPr>
              <a:buNone/>
              <a:defRPr sz="3450" b="1">
                <a:solidFill>
                  <a:srgbClr val="FF5A66"/>
                </a:solidFill>
                <a:latin typeface="Arial"/>
                <a:ea typeface="Arial"/>
                <a:cs typeface="Arial"/>
              </a:defRPr>
            </a:lvl4pPr>
            <a:lvl5pPr>
              <a:buNone/>
              <a:defRPr sz="3450" b="1">
                <a:solidFill>
                  <a:srgbClr val="FF5A66"/>
                </a:solidFill>
                <a:latin typeface="Arial"/>
                <a:ea typeface="Arial"/>
                <a:cs typeface="Arial"/>
              </a:defRPr>
            </a:lvl5pPr>
            <a:lvl6pPr>
              <a:buNone/>
              <a:defRPr sz="3450" b="1">
                <a:solidFill>
                  <a:srgbClr val="FF5A66"/>
                </a:solidFill>
                <a:latin typeface="Arial"/>
                <a:ea typeface="Arial"/>
                <a:cs typeface="Arial"/>
              </a:defRPr>
            </a:lvl6pPr>
            <a:lvl7pPr>
              <a:buNone/>
              <a:defRPr sz="3450" b="1">
                <a:solidFill>
                  <a:srgbClr val="FF5A66"/>
                </a:solidFill>
                <a:latin typeface="Arial"/>
                <a:ea typeface="Arial"/>
                <a:cs typeface="Arial"/>
              </a:defRPr>
            </a:lvl7pPr>
            <a:lvl8pPr>
              <a:buNone/>
              <a:defRPr sz="3450" b="1">
                <a:solidFill>
                  <a:srgbClr val="FF5A66"/>
                </a:solidFill>
                <a:latin typeface="Arial"/>
                <a:ea typeface="Arial"/>
                <a:cs typeface="Arial"/>
              </a:defRPr>
            </a:lvl8pPr>
            <a:lvl9pPr>
              <a:buNone/>
              <a:defRPr sz="3450" b="1">
                <a:solidFill>
                  <a:srgbClr val="FF5A66"/>
                </a:solidFill>
                <a:latin typeface="Arial"/>
                <a:ea typeface="Arial"/>
                <a:cs typeface="Arial"/>
              </a:defRPr>
            </a:lvl9pPr>
          </a:lstStyle>
          <a:p>
            <a:pPr>
              <a:buNone/>
              <a:defRPr sz="1950" b="1">
                <a:solidFill>
                  <a:srgbClr val="FF5A66"/>
                </a:solidFill>
                <a:latin typeface="Arial"/>
                <a:ea typeface="Arial"/>
                <a:cs typeface="Arial"/>
              </a:defRPr>
            </a:pPr>
            <a:r>
              <a:rPr sz="1950" b="1">
                <a:solidFill>
                  <a:srgbClr val="FF5A66"/>
                </a:solidFill>
                <a:latin typeface="Arial"/>
                <a:ea typeface="Arial"/>
                <a:cs typeface="Arial"/>
              </a:rPr>
              <a:t>3  Manifest generation</a:t>
            </a:r>
          </a:p>
        </p:txBody>
      </p:sp>
      <p:sp>
        <p:nvSpPr>
          <p:cNvPr id="9" name="layers-label">
            <a:extLst>
              <a:ext uri="{FF2B5EF4-FFF2-40B4-BE49-F238E27FC236}">
                <a16:creationId xmlns:a16="http://schemas.microsoft.com/office/drawing/2014/main" id="{6704C363-32FB-4E8D-9C6E-6CBC2270D5C6}"/>
              </a:ext>
            </a:extLst>
          </p:cNvPr>
          <p:cNvSpPr>
            <a:spLocks noGrp="1"/>
          </p:cNvSpPr>
          <p:nvPr/>
        </p:nvSpPr>
        <p:spPr>
          <a:xfrm>
            <a:off x="9010650" y="4191000"/>
            <a:ext cx="2724150" cy="342900"/>
          </a:xfrm>
          <a:prstGeom prst="rect">
            <a:avLst/>
          </a:prstGeom>
          <a:noFill/>
          <a:ln w="0">
            <a:noFill/>
          </a:ln>
        </p:spPr>
        <p:txBody>
          <a:bodyPr wrap="none" lIns="0" tIns="0" rIns="0" bIns="0" anchor="t">
            <a:noAutofit/>
          </a:bodyPr>
          <a:lstStyle>
            <a:defPPr>
              <a:defRPr sz="1950" b="1">
                <a:solidFill>
                  <a:srgbClr val="FF5A66"/>
                </a:solidFill>
                <a:latin typeface="Arial"/>
                <a:ea typeface="Arial"/>
                <a:cs typeface="Arial"/>
              </a:defRPr>
            </a:defPPr>
            <a:lvl1pPr>
              <a:buNone/>
              <a:defRPr sz="1800" b="0">
                <a:solidFill>
                  <a:srgbClr val="F6F7FB"/>
                </a:solidFill>
                <a:latin typeface="Arial"/>
                <a:ea typeface="Arial"/>
                <a:cs typeface="Arial"/>
              </a:defRPr>
            </a:lvl1pPr>
            <a:lvl2pPr>
              <a:buNone/>
              <a:defRPr sz="1800" b="0">
                <a:solidFill>
                  <a:srgbClr val="F6F7FB"/>
                </a:solidFill>
                <a:latin typeface="Arial"/>
                <a:ea typeface="Arial"/>
                <a:cs typeface="Arial"/>
              </a:defRPr>
            </a:lvl2pPr>
            <a:lvl3pPr>
              <a:buNone/>
              <a:defRPr sz="1800" b="0">
                <a:solidFill>
                  <a:srgbClr val="F6F7FB"/>
                </a:solidFill>
                <a:latin typeface="Arial"/>
                <a:ea typeface="Arial"/>
                <a:cs typeface="Arial"/>
              </a:defRPr>
            </a:lvl3pPr>
            <a:lvl4pPr>
              <a:buNone/>
              <a:defRPr sz="1800" b="0">
                <a:solidFill>
                  <a:srgbClr val="F6F7FB"/>
                </a:solidFill>
                <a:latin typeface="Arial"/>
                <a:ea typeface="Arial"/>
                <a:cs typeface="Arial"/>
              </a:defRPr>
            </a:lvl4pPr>
            <a:lvl5pPr>
              <a:buNone/>
              <a:defRPr sz="1800" b="0">
                <a:solidFill>
                  <a:srgbClr val="F6F7FB"/>
                </a:solidFill>
                <a:latin typeface="Arial"/>
                <a:ea typeface="Arial"/>
                <a:cs typeface="Arial"/>
              </a:defRPr>
            </a:lvl5pPr>
            <a:lvl6pPr>
              <a:buNone/>
              <a:defRPr sz="1800" b="0">
                <a:solidFill>
                  <a:srgbClr val="F6F7FB"/>
                </a:solidFill>
                <a:latin typeface="Arial"/>
                <a:ea typeface="Arial"/>
                <a:cs typeface="Arial"/>
              </a:defRPr>
            </a:lvl6pPr>
            <a:lvl7pPr>
              <a:buNone/>
              <a:defRPr sz="1800" b="0">
                <a:solidFill>
                  <a:srgbClr val="F6F7FB"/>
                </a:solidFill>
                <a:latin typeface="Arial"/>
                <a:ea typeface="Arial"/>
                <a:cs typeface="Arial"/>
              </a:defRPr>
            </a:lvl7pPr>
            <a:lvl8pPr>
              <a:buNone/>
              <a:defRPr sz="1800" b="0">
                <a:solidFill>
                  <a:srgbClr val="F6F7FB"/>
                </a:solidFill>
                <a:latin typeface="Arial"/>
                <a:ea typeface="Arial"/>
                <a:cs typeface="Arial"/>
              </a:defRPr>
            </a:lvl8pPr>
            <a:lvl9pPr>
              <a:buNone/>
              <a:defRPr sz="1800" b="0">
                <a:solidFill>
                  <a:srgbClr val="F6F7FB"/>
                </a:solidFill>
                <a:latin typeface="Arial"/>
                <a:ea typeface="Arial"/>
                <a:cs typeface="Arial"/>
              </a:defRPr>
            </a:lvl9pPr>
          </a:lstStyle>
          <a:p>
            <a:pPr>
              <a:buNone/>
              <a:defRPr sz="1950" b="1">
                <a:solidFill>
                  <a:srgbClr val="FF5A66"/>
                </a:solidFill>
                <a:latin typeface="Arial"/>
                <a:ea typeface="Arial"/>
                <a:cs typeface="Arial"/>
              </a:defRPr>
            </a:pPr>
            <a:r>
              <a:rPr sz="1950" b="1">
                <a:solidFill>
                  <a:srgbClr val="FF5A66"/>
                </a:solidFill>
                <a:latin typeface="Arial"/>
                <a:ea typeface="Arial"/>
                <a:cs typeface="Arial"/>
              </a:rPr>
              <a:t>4  Execute and verify</a:t>
            </a:r>
          </a:p>
        </p:txBody>
      </p:sp>
      <p:sp>
        <p:nvSpPr>
          <p:cNvPr id="10" name="exclusion">
            <a:extLst>
              <a:ext uri="{FF2B5EF4-FFF2-40B4-BE49-F238E27FC236}">
                <a16:creationId xmlns:a16="http://schemas.microsoft.com/office/drawing/2014/main" id="{3E05316C-FB25-4ABD-B022-2BA503102092}"/>
              </a:ext>
            </a:extLst>
          </p:cNvPr>
          <p:cNvSpPr>
            <a:spLocks noGrp="1"/>
          </p:cNvSpPr>
          <p:nvPr/>
        </p:nvSpPr>
        <p:spPr>
          <a:xfrm>
            <a:off x="9010650" y="4991100"/>
            <a:ext cx="2724150" cy="1219200"/>
          </a:xfrm>
          <a:prstGeom prst="rect">
            <a:avLst/>
          </a:prstGeom>
          <a:noFill/>
          <a:ln w="0">
            <a:noFill/>
          </a:ln>
        </p:spPr>
        <p:txBody>
          <a:bodyPr wrap="none" lIns="0" tIns="0" rIns="0" bIns="0" anchor="t">
            <a:noAutofit/>
          </a:bodyPr>
          <a:lstStyle>
            <a:defPPr>
              <a:defRPr sz="1950" b="1">
                <a:solidFill>
                  <a:srgbClr val="FFFFFF"/>
                </a:solidFill>
                <a:latin typeface="Arial"/>
                <a:ea typeface="Arial"/>
                <a:cs typeface="Arial"/>
              </a:defRPr>
            </a:defPPr>
            <a:lvl1pPr>
              <a:buNone/>
              <a:defRPr sz="1350" b="0">
                <a:solidFill>
                  <a:srgbClr val="B9BFCC"/>
                </a:solidFill>
                <a:latin typeface="Arial"/>
                <a:ea typeface="Arial"/>
                <a:cs typeface="Arial"/>
              </a:defRPr>
            </a:lvl1pPr>
            <a:lvl2pPr>
              <a:buNone/>
              <a:defRPr sz="1350" b="0">
                <a:solidFill>
                  <a:srgbClr val="B9BFCC"/>
                </a:solidFill>
                <a:latin typeface="Arial"/>
                <a:ea typeface="Arial"/>
                <a:cs typeface="Arial"/>
              </a:defRPr>
            </a:lvl2pPr>
            <a:lvl3pPr>
              <a:buNone/>
              <a:defRPr sz="1350" b="0">
                <a:solidFill>
                  <a:srgbClr val="B9BFCC"/>
                </a:solidFill>
                <a:latin typeface="Arial"/>
                <a:ea typeface="Arial"/>
                <a:cs typeface="Arial"/>
              </a:defRPr>
            </a:lvl3pPr>
            <a:lvl4pPr>
              <a:buNone/>
              <a:defRPr sz="1350" b="0">
                <a:solidFill>
                  <a:srgbClr val="B9BFCC"/>
                </a:solidFill>
                <a:latin typeface="Arial"/>
                <a:ea typeface="Arial"/>
                <a:cs typeface="Arial"/>
              </a:defRPr>
            </a:lvl4pPr>
            <a:lvl5pPr>
              <a:buNone/>
              <a:defRPr sz="1350" b="0">
                <a:solidFill>
                  <a:srgbClr val="B9BFCC"/>
                </a:solidFill>
                <a:latin typeface="Arial"/>
                <a:ea typeface="Arial"/>
                <a:cs typeface="Arial"/>
              </a:defRPr>
            </a:lvl5pPr>
            <a:lvl6pPr>
              <a:buNone/>
              <a:defRPr sz="1350" b="0">
                <a:solidFill>
                  <a:srgbClr val="B9BFCC"/>
                </a:solidFill>
                <a:latin typeface="Arial"/>
                <a:ea typeface="Arial"/>
                <a:cs typeface="Arial"/>
              </a:defRPr>
            </a:lvl6pPr>
            <a:lvl7pPr>
              <a:buNone/>
              <a:defRPr sz="1350" b="0">
                <a:solidFill>
                  <a:srgbClr val="B9BFCC"/>
                </a:solidFill>
                <a:latin typeface="Arial"/>
                <a:ea typeface="Arial"/>
                <a:cs typeface="Arial"/>
              </a:defRPr>
            </a:lvl7pPr>
            <a:lvl8pPr>
              <a:buNone/>
              <a:defRPr sz="1350" b="0">
                <a:solidFill>
                  <a:srgbClr val="B9BFCC"/>
                </a:solidFill>
                <a:latin typeface="Arial"/>
                <a:ea typeface="Arial"/>
                <a:cs typeface="Arial"/>
              </a:defRPr>
            </a:lvl8pPr>
            <a:lvl9pPr>
              <a:buNone/>
              <a:defRPr sz="1350" b="0">
                <a:solidFill>
                  <a:srgbClr val="B9BFCC"/>
                </a:solidFill>
                <a:latin typeface="Arial"/>
                <a:ea typeface="Arial"/>
                <a:cs typeface="Arial"/>
              </a:defRPr>
            </a:lvl9pPr>
          </a:lstStyle>
          <a:p>
            <a:pPr>
              <a:buNone/>
              <a:defRPr sz="1950" b="1">
                <a:solidFill>
                  <a:srgbClr val="FFFFFF"/>
                </a:solidFill>
                <a:latin typeface="Arial"/>
                <a:ea typeface="Arial"/>
                <a:cs typeface="Arial"/>
              </a:defRPr>
            </a:pPr>
            <a:r>
              <a:rPr sz="1950" b="1">
                <a:solidFill>
                  <a:srgbClr val="FFFFFF"/>
                </a:solidFill>
                <a:latin typeface="Arial"/>
                <a:ea typeface="Arial"/>
                <a:cs typeface="Arial"/>
              </a:rPr>
              <a:t>Quark successfully</a:t>
            </a:r>
          </a:p>
          <a:p>
            <a:pPr>
              <a:buNone/>
              <a:defRPr sz="1950" b="1">
                <a:solidFill>
                  <a:srgbClr val="FFFFFF"/>
                </a:solidFill>
                <a:latin typeface="Arial"/>
                <a:ea typeface="Arial"/>
                <a:cs typeface="Arial"/>
              </a:defRPr>
            </a:pPr>
            <a:r>
              <a:rPr sz="1950" b="1">
                <a:solidFill>
                  <a:srgbClr val="FFFFFF"/>
                </a:solidFill>
                <a:latin typeface="Arial"/>
                <a:ea typeface="Arial"/>
                <a:cs typeface="Arial"/>
              </a:rPr>
              <a:t>quantized Qwen3-8B</a:t>
            </a:r>
          </a:p>
          <a:p>
            <a:pPr>
              <a:buNone/>
              <a:defRPr sz="1950" b="1">
                <a:solidFill>
                  <a:srgbClr val="FFFFFF"/>
                </a:solidFill>
                <a:latin typeface="Arial"/>
                <a:ea typeface="Arial"/>
                <a:cs typeface="Arial"/>
              </a:defRPr>
            </a:pPr>
            <a:r>
              <a:rPr sz="1950" b="1">
                <a:solidFill>
                  <a:srgbClr val="FFFFFF"/>
                </a:solidFill>
                <a:latin typeface="Arial"/>
                <a:ea typeface="Arial"/>
                <a:cs typeface="Arial"/>
              </a:rPr>
              <a:t>to FP8 and exported</a:t>
            </a:r>
          </a:p>
          <a:p>
            <a:pPr>
              <a:buNone/>
              <a:defRPr sz="1950" b="1">
                <a:solidFill>
                  <a:srgbClr val="FFFFFF"/>
                </a:solidFill>
                <a:latin typeface="Arial"/>
                <a:ea typeface="Arial"/>
                <a:cs typeface="Arial"/>
              </a:defRPr>
            </a:pPr>
            <a:r>
              <a:rPr sz="1950" b="1">
                <a:solidFill>
                  <a:srgbClr val="FFFFFF"/>
                </a:solidFill>
                <a:latin typeface="Arial"/>
                <a:ea typeface="Arial"/>
                <a:cs typeface="Arial"/>
              </a:rPr>
              <a:t>the model.</a:t>
            </a:r>
          </a:p>
        </p:txBody>
      </p:sp>
      <p:sp>
        <p:nvSpPr>
          <p:cNvPr id="13" name="Title 1">
            <a:extLst>
              <a:ext uri="{FF2B5EF4-FFF2-40B4-BE49-F238E27FC236}">
                <a16:creationId xmlns:a16="http://schemas.microsoft.com/office/drawing/2014/main" id="{1B10987D-9BD0-03BC-DF3E-FB0CC28AA5A5}"/>
              </a:ext>
            </a:extLst>
          </p:cNvPr>
          <p:cNvSpPr txBox="1">
            <a:spLocks/>
          </p:cNvSpPr>
          <p:nvPr/>
        </p:nvSpPr>
        <p:spPr>
          <a:xfrm>
            <a:off x="395464" y="500615"/>
            <a:ext cx="11018520"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a:lstStyle>
          <a:p>
            <a:r>
              <a:rPr lang="en-US">
                <a:latin typeface="Calibri" panose="020F0502020204030204" pitchFamily="34" charset="0"/>
                <a:ea typeface="Calibri" panose="020F0502020204030204" pitchFamily="34" charset="0"/>
                <a:cs typeface="Calibri" panose="020F0502020204030204" pitchFamily="34" charset="0"/>
              </a:rPr>
              <a:t>AMD Skills Demos – Quark</a:t>
            </a:r>
          </a:p>
        </p:txBody>
      </p:sp>
      <p:sp>
        <p:nvSpPr>
          <p:cNvPr id="15" name="Text 0">
            <a:extLst>
              <a:ext uri="{FF2B5EF4-FFF2-40B4-BE49-F238E27FC236}">
                <a16:creationId xmlns:a16="http://schemas.microsoft.com/office/drawing/2014/main" id="{AD8F6E29-8A1F-99AE-64F1-A60EEF572BD8}"/>
              </a:ext>
            </a:extLst>
          </p:cNvPr>
          <p:cNvSpPr/>
          <p:nvPr/>
        </p:nvSpPr>
        <p:spPr>
          <a:xfrm>
            <a:off x="405355" y="243574"/>
            <a:ext cx="11064240" cy="274320"/>
          </a:xfrm>
          <a:prstGeom prst="rect">
            <a:avLst/>
          </a:prstGeom>
          <a:noFill/>
          <a:ln/>
        </p:spPr>
        <p:txBody>
          <a:bodyPr wrap="square" lIns="0" tIns="0" rIns="0" bIns="0" rtlCol="0" anchor="ctr"/>
          <a:lstStyle/>
          <a:p>
            <a:pPr marL="0" indent="0">
              <a:buNone/>
            </a:pPr>
            <a:r>
              <a:rPr lang="en-US" sz="1100" b="1" kern="0" spc="300">
                <a:solidFill>
                  <a:srgbClr val="F6763C"/>
                </a:solidFill>
                <a:latin typeface="Calibri"/>
                <a:ea typeface="Calibri"/>
                <a:cs typeface="Calibri"/>
              </a:rPr>
              <a:t>EMPOWER YOUR AI AGENTS WITH AMD'S OPTIMIZED SW STACK</a:t>
            </a:r>
            <a:endParaRPr lang="en-US" sz="1100">
              <a:solidFill>
                <a:srgbClr val="F6763C"/>
              </a:solidFill>
              <a:latin typeface="Calibri"/>
              <a:ea typeface="Calibri"/>
              <a:cs typeface="Calibri"/>
            </a:endParaRPr>
          </a:p>
        </p:txBody>
      </p:sp>
    </p:spTree>
    <p:extLst>
      <p:ext uri="{BB962C8B-B14F-4D97-AF65-F5344CB8AC3E}">
        <p14:creationId xmlns:p14="http://schemas.microsoft.com/office/powerpoint/2010/main" val="104072974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custDataLst>
    <p:extLst>
      <p:ext uri="{BB962C8B-B14F-4D97-AF65-F5344CB8AC3E}">
        <p14:creationId xmlns:p14="http://schemas.microsoft.com/office/powerpoint/2010/main" val="2897248901"/>
      </p:ext>
    </p:extLst>
  </p:cSld>
  <p:clrMapOvr>
    <a:masterClrMapping/>
  </p:clrMapOvr>
  <p:transition>
    <p:fade/>
  </p:transition>
</p:sld>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C2DE"/>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16x9 Presentation - Corporate Black Background - 2024 update -v1.2" id="{952D021A-6A0B-49CB-832E-9DCCDC055701}" vid="{8B090628-2708-4125-B695-55346B67B5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item1.xml><?xml version="1.0" encoding="utf-8"?>
<TemplafySlideTemplateConfiguration><![CDATA[{"slideVersion":1,"isValidatorEnabled":false,"isLocked":false,"elementsMetadata":[],"slideId":"637629098780944294","enableDocumentContentUpdater":true,"version":"2.0"}]]></TemplafySlideTemplateConfiguratio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TemplafySlideFormConfiguration><![CDATA[{"formFields":[],"formDataEntries":[]}]]></TemplafySlideFormConfiguration>
</file>

<file path=customXml/item4.xml><?xml version="1.0" encoding="utf-8"?>
<TemplafySlideTemplateConfiguration><![CDATA[{"slideVersion":1,"isValidatorEnabled":false,"isLocked":false,"elementsMetadata":[],"slideId":"637629098780808397","enableDocumentContentUpdater":true,"version":"2.0"}]]></TemplafySlideTemplateConfiguration>
</file>

<file path=customXml/item5.xml><?xml version="1.0" encoding="utf-8"?>
<TemplafySlideTemplateConfiguration><![CDATA[{"slideVersion":1,"isValidatorEnabled":false,"isLocked":false,"elementsMetadata":[],"slideId":"637629098780802172","enableDocumentContentUpdater":true,"version":"2.0"}]]></TemplafySlideTemplateConfiguration>
</file>

<file path=customXml/item6.xml><?xml version="1.0" encoding="utf-8"?>
<p:properties xmlns:p="http://schemas.microsoft.com/office/2006/metadata/properties" xmlns:xsi="http://www.w3.org/2001/XMLSchema-instance" xmlns:pc="http://schemas.microsoft.com/office/infopath/2007/PartnerControls">
  <documentManagement>
    <_activity xmlns="a78e9bc6-79b2-4b1b-b4fb-506710132f4d" xsi:nil="true"/>
  </documentManagement>
</p:properties>
</file>

<file path=customXml/item7.xml><?xml version="1.0" encoding="utf-8"?>
<TemplafySlideTemplateConfiguration><![CDATA[{"slideVersion":1,"isValidatorEnabled":false,"isLocked":false,"elementsMetadata":[],"slideId":"637629098780808397","enableDocumentContentUpdater":true,"version":"2.0"}]]></TemplafySlideTemplateConfiguration>
</file>

<file path=customXml/item8.xml><?xml version="1.0" encoding="utf-8"?>
<TemplafySlideTemplateConfiguration><![CDATA[{"slideVersion":1,"isValidatorEnabled":false,"isLocked":false,"elementsMetadata":[],"slideId":"637629098780808397","enableDocumentContentUpdater":true,"version":"2.0"}]]></TemplafySlideTemplateConfiguration>
</file>

<file path=customXml/item9.xml><?xml version="1.0" encoding="utf-8"?>
<TemplafySlideFormConfiguration><![CDATA[{"formFields":[],"formDataEntries":[]}]]></TemplafySlideFormConfiguration>
</file>

<file path=customXml/item10.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1,"isValidatorEnabled":false,"isLocked":false,"elementsMetadata":[],"slideId":"637629098780808397","enableDocumentContentUpdater":true,"version":"2.0"}]]></TemplafySlideTemplateConfiguration>
</file>

<file path=customXml/item13.xml><?xml version="1.0" encoding="utf-8"?>
<TemplafySlideFormConfiguration><![CDATA[{"formFields":[],"formDataEntries":[]}]]></TemplafySlideFormConfiguration>
</file>

<file path=customXml/item14.xml><?xml version="1.0" encoding="utf-8"?>
<TemplafySlideTemplateConfiguration><![CDATA[{"slideVersion":1,"isValidatorEnabled":false,"isLocked":false,"elementsMetadata":[],"slideId":"637629098780808397","enableDocumentContentUpdater":true,"version":"2.0"}]]></TemplafySlideTemplateConfiguration>
</file>

<file path=customXml/item15.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16.xml><?xml version="1.0" encoding="utf-8"?>
<ct:contentTypeSchema xmlns:ct="http://schemas.microsoft.com/office/2006/metadata/contentType" xmlns:ma="http://schemas.microsoft.com/office/2006/metadata/properties/metaAttributes" ct:_="" ma:_="" ma:contentTypeName="Document" ma:contentTypeID="0x010100F71D0F9B23DDFB47BD9D00339B83345E" ma:contentTypeVersion="16" ma:contentTypeDescription="Create a new document." ma:contentTypeScope="" ma:versionID="7dc28a5bd768c6534ffd5c71120d0170">
  <xsd:schema xmlns:xsd="http://www.w3.org/2001/XMLSchema" xmlns:xs="http://www.w3.org/2001/XMLSchema" xmlns:p="http://schemas.microsoft.com/office/2006/metadata/properties" xmlns:ns3="a78e9bc6-79b2-4b1b-b4fb-506710132f4d" xmlns:ns4="6b28e017-24b8-4279-b8a2-cc80ac580eed" targetNamespace="http://schemas.microsoft.com/office/2006/metadata/properties" ma:root="true" ma:fieldsID="da90e540ed457fa87af97393aa7b06f9" ns3:_="" ns4:_="">
    <xsd:import namespace="a78e9bc6-79b2-4b1b-b4fb-506710132f4d"/>
    <xsd:import namespace="6b28e017-24b8-4279-b8a2-cc80ac580ee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SystemTags" minOccurs="0"/>
                <xsd:element ref="ns3:MediaLengthInSecond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8e9bc6-79b2-4b1b-b4fb-506710132f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SystemTags" ma:index="20" nillable="true" ma:displayName="MediaServiceSystemTags" ma:hidden="true" ma:internalName="MediaServiceSystemTag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b28e017-24b8-4279-b8a2-cc80ac580ee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7.xml><?xml version="1.0" encoding="utf-8"?>
<TemplafySlideFormConfiguration><![CDATA[{"formFields":[],"formDataEntries":[]}]]></TemplafySlideFormConfiguration>
</file>

<file path=customXml/item18.xml><?xml version="1.0" encoding="utf-8"?>
<TemplafySlideFormConfiguration><![CDATA[{"formFields":[],"formDataEntries":[]}]]></TemplafySlideFormConfiguration>
</file>

<file path=customXml/item19.xml><?xml version="1.0" encoding="utf-8"?>
<TemplafySlideTemplateConfiguration><![CDATA[{"slideVersion":1,"isValidatorEnabled":false,"isLocked":false,"elementsMetadata":[],"slideId":"637629098780808397","enableDocumentContentUpdater":true,"version":"2.0"}]]></TemplafySlideTemplateConfiguration>
</file>

<file path=customXml/item20.xml><?xml version="1.0" encoding="utf-8"?>
<TemplafySlideFormConfiguration><![CDATA[{"formFields":[],"formDataEntries":[]}]]></TemplafySlideFormConfiguration>
</file>

<file path=customXml/item21.xml><?xml version="1.0" encoding="utf-8"?>
<TemplafySlideFormConfiguration><![CDATA[{"formFields":[],"formDataEntries":[]}]]></TemplafySlideFormConfiguration>
</file>

<file path=customXml/item22.xml><?xml version="1.0" encoding="utf-8"?>
<TemplafySlideTemplateConfiguration><![CDATA[{"slideVersion":1,"isValidatorEnabled":false,"isLocked":false,"elementsMetadata":[],"slideId":"637629098780805369","enableDocumentContentUpdater":true,"version":"2.0"}]]></TemplafySlideTemplateConfiguration>
</file>

<file path=customXml/item23.xml><?xml version="1.0" encoding="utf-8"?>
<TemplafySlideFormConfiguration><![CDATA[{"formFields":[],"formDataEntries":[]}]]></TemplafySlideFormConfiguration>
</file>

<file path=customXml/item24.xml><?xml version="1.0" encoding="utf-8"?>
<TemplafySlideFormConfiguration><![CDATA[{"formFields":[],"formDataEntries":[]}]]></TemplafySlideFormConfiguration>
</file>

<file path=customXml/item25.xml><?xml version="1.0" encoding="utf-8"?>
<TemplafySlideTemplateConfiguration><![CDATA[{"slideVersion":1,"isValidatorEnabled":false,"isLocked":false,"elementsMetadata":[],"slideId":"637629098780808397","enableDocumentContentUpdater":true,"version":"2.0"}]]></TemplafySlideTemplateConfiguration>
</file>

<file path=customXml/itemProps1.xml><?xml version="1.0" encoding="utf-8"?>
<ds:datastoreItem xmlns:ds="http://schemas.openxmlformats.org/officeDocument/2006/customXml" ds:itemID="{1AB4A281-5EBA-4CA1-A536-6B29C98890B6}">
  <ds:schemaRefs/>
</ds:datastoreItem>
</file>

<file path=customXml/itemProps2.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3.xml><?xml version="1.0" encoding="utf-8"?>
<ds:datastoreItem xmlns:ds="http://schemas.openxmlformats.org/officeDocument/2006/customXml" ds:itemID="{2E401E64-9EB5-4E01-8074-794E47450BC4}">
  <ds:schemaRefs/>
</ds:datastoreItem>
</file>

<file path=customXml/itemProps4.xml><?xml version="1.0" encoding="utf-8"?>
<ds:datastoreItem xmlns:ds="http://schemas.openxmlformats.org/officeDocument/2006/customXml" ds:itemID="{6E19493C-05F2-4C9A-AA27-373676C4FE05}">
  <ds:schemaRefs/>
</ds:datastoreItem>
</file>

<file path=customXml/itemProps5.xml><?xml version="1.0" encoding="utf-8"?>
<ds:datastoreItem xmlns:ds="http://schemas.openxmlformats.org/officeDocument/2006/customXml" ds:itemID="{BE3BB7DD-0C86-4747-A387-5C5D191BB970}">
  <ds:schemaRefs/>
</ds:datastoreItem>
</file>

<file path=customXml/itemProps6.xml><?xml version="1.0" encoding="utf-8"?>
<ds:datastoreItem xmlns:ds="http://schemas.openxmlformats.org/officeDocument/2006/customXml" ds:itemID="{F990F116-B58F-4255-B05B-DA3808E0E5C6}">
  <ds:schemaRefs>
    <ds:schemaRef ds:uri="6b28e017-24b8-4279-b8a2-cc80ac580eed"/>
    <ds:schemaRef ds:uri="a78e9bc6-79b2-4b1b-b4fb-506710132f4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7.xml><?xml version="1.0" encoding="utf-8"?>
<ds:datastoreItem xmlns:ds="http://schemas.openxmlformats.org/officeDocument/2006/customXml" ds:itemID="{1BCEDA00-0BCE-4F19-A380-8AED6A66E762}">
  <ds:schemaRefs/>
</ds:datastoreItem>
</file>

<file path=customXml/itemProps8.xml><?xml version="1.0" encoding="utf-8"?>
<ds:datastoreItem xmlns:ds="http://schemas.openxmlformats.org/officeDocument/2006/customXml" ds:itemID="{0EE6C855-8EF3-4A06-948A-34EFE01464D9}">
  <ds:schemaRefs/>
</ds:datastoreItem>
</file>

<file path=customXml/itemProps9.xml><?xml version="1.0" encoding="utf-8"?>
<ds:datastoreItem xmlns:ds="http://schemas.openxmlformats.org/officeDocument/2006/customXml" ds:itemID="{C5DD1971-334A-45E9-9D2B-FB6BD8AAE58A}">
  <ds:schemaRefs/>
</ds:datastoreItem>
</file>

<file path=customXml/itemProps10.xml><?xml version="1.0" encoding="utf-8"?>
<ds:datastoreItem xmlns:ds="http://schemas.openxmlformats.org/officeDocument/2006/customXml" ds:itemID="{6291F803-2EF0-4E47-96D6-4796950CE6BD}">
  <ds:schemaRefs/>
</ds:datastoreItem>
</file>

<file path=customXml/itemProps11.xml><?xml version="1.0" encoding="utf-8"?>
<ds:datastoreItem xmlns:ds="http://schemas.openxmlformats.org/officeDocument/2006/customXml" ds:itemID="{35BD9D73-DB52-44B0-BC2D-B59EE52F51E2}">
  <ds:schemaRefs/>
</ds:datastoreItem>
</file>

<file path=customXml/itemProps12.xml><?xml version="1.0" encoding="utf-8"?>
<ds:datastoreItem xmlns:ds="http://schemas.openxmlformats.org/officeDocument/2006/customXml" ds:itemID="{F89D7A41-E79E-4E89-A277-634603EFAAB3}">
  <ds:schemaRefs/>
</ds:datastoreItem>
</file>

<file path=customXml/itemProps13.xml><?xml version="1.0" encoding="utf-8"?>
<ds:datastoreItem xmlns:ds="http://schemas.openxmlformats.org/officeDocument/2006/customXml" ds:itemID="{DDCC6A1B-7673-40E9-AC3E-C0D8F2784A83}">
  <ds:schemaRefs/>
</ds:datastoreItem>
</file>

<file path=customXml/itemProps14.xml><?xml version="1.0" encoding="utf-8"?>
<ds:datastoreItem xmlns:ds="http://schemas.openxmlformats.org/officeDocument/2006/customXml" ds:itemID="{FB7AA2B4-156A-4AB3-A86A-F133D47F7017}">
  <ds:schemaRefs/>
</ds:datastoreItem>
</file>

<file path=customXml/itemProps15.xml><?xml version="1.0" encoding="utf-8"?>
<ds:datastoreItem xmlns:ds="http://schemas.openxmlformats.org/officeDocument/2006/customXml" ds:itemID="{43BC5722-1D5B-4915-8247-E6D5F513E549}">
  <ds:schemaRefs/>
</ds:datastoreItem>
</file>

<file path=customXml/itemProps16.xml><?xml version="1.0" encoding="utf-8"?>
<ds:datastoreItem xmlns:ds="http://schemas.openxmlformats.org/officeDocument/2006/customXml" ds:itemID="{84D6B9BE-9221-48CB-866A-DC1D329A8A99}">
  <ds:schemaRefs>
    <ds:schemaRef ds:uri="6b28e017-24b8-4279-b8a2-cc80ac580eed"/>
    <ds:schemaRef ds:uri="a78e9bc6-79b2-4b1b-b4fb-506710132f4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17.xml><?xml version="1.0" encoding="utf-8"?>
<ds:datastoreItem xmlns:ds="http://schemas.openxmlformats.org/officeDocument/2006/customXml" ds:itemID="{0A230136-8CEC-4C29-A55A-F5FA83CA887A}">
  <ds:schemaRefs/>
</ds:datastoreItem>
</file>

<file path=customXml/itemProps18.xml><?xml version="1.0" encoding="utf-8"?>
<ds:datastoreItem xmlns:ds="http://schemas.openxmlformats.org/officeDocument/2006/customXml" ds:itemID="{14146E28-6954-4B77-BCD9-A84821196405}">
  <ds:schemaRefs/>
</ds:datastoreItem>
</file>

<file path=customXml/itemProps19.xml><?xml version="1.0" encoding="utf-8"?>
<ds:datastoreItem xmlns:ds="http://schemas.openxmlformats.org/officeDocument/2006/customXml" ds:itemID="{A1A1F376-4A8A-4602-B21D-EBC38D245C82}">
  <ds:schemaRefs/>
</ds:datastoreItem>
</file>

<file path=customXml/itemProps20.xml><?xml version="1.0" encoding="utf-8"?>
<ds:datastoreItem xmlns:ds="http://schemas.openxmlformats.org/officeDocument/2006/customXml" ds:itemID="{3229B599-4AAE-417A-9E89-EBB814B25029}">
  <ds:schemaRefs/>
</ds:datastoreItem>
</file>

<file path=customXml/itemProps21.xml><?xml version="1.0" encoding="utf-8"?>
<ds:datastoreItem xmlns:ds="http://schemas.openxmlformats.org/officeDocument/2006/customXml" ds:itemID="{54940B9D-5641-4470-9D7F-A0498FEB7813}">
  <ds:schemaRefs/>
</ds:datastoreItem>
</file>

<file path=customXml/itemProps22.xml><?xml version="1.0" encoding="utf-8"?>
<ds:datastoreItem xmlns:ds="http://schemas.openxmlformats.org/officeDocument/2006/customXml" ds:itemID="{95AE8F77-448C-4B7C-8669-DC6D4241F9CE}">
  <ds:schemaRefs/>
</ds:datastoreItem>
</file>

<file path=customXml/itemProps23.xml><?xml version="1.0" encoding="utf-8"?>
<ds:datastoreItem xmlns:ds="http://schemas.openxmlformats.org/officeDocument/2006/customXml" ds:itemID="{3D719615-E8C3-42D3-B19D-076A1FC4620D}">
  <ds:schemaRefs/>
</ds:datastoreItem>
</file>

<file path=customXml/itemProps24.xml><?xml version="1.0" encoding="utf-8"?>
<ds:datastoreItem xmlns:ds="http://schemas.openxmlformats.org/officeDocument/2006/customXml" ds:itemID="{3BABD2ED-A9E6-4340-A8FB-90BCEE868BB3}">
  <ds:schemaRefs/>
</ds:datastoreItem>
</file>

<file path=customXml/itemProps25.xml><?xml version="1.0" encoding="utf-8"?>
<ds:datastoreItem xmlns:ds="http://schemas.openxmlformats.org/officeDocument/2006/customXml" ds:itemID="{2D981A73-BB42-4E04-AC1B-E605D6CF3071}">
  <ds:schemaRefs/>
</ds:datastoreItem>
</file>

<file path=docMetadata/LabelInfo.xml><?xml version="1.0" encoding="utf-8"?>
<clbl:labelList xmlns:clbl="http://schemas.microsoft.com/office/2020/mipLabelMetadata">
  <clbl:label id="{2d0b1989-8fc8-4a69-bcac-d46889461ba5}"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blank</Template>
  <TotalTime>0</TotalTime>
  <Words>1366</Words>
  <Application>Microsoft Office PowerPoint</Application>
  <PresentationFormat>Widescreen</PresentationFormat>
  <Paragraphs>174</Paragraphs>
  <Slides>19</Slides>
  <Notes>13</Notes>
  <HiddenSlides>4</HiddenSlides>
  <MMClips>3</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Arial</vt:lpstr>
      <vt:lpstr>Calibri</vt:lpstr>
      <vt:lpstr>Consolas</vt:lpstr>
      <vt:lpstr>Mona Sans VF</vt:lpstr>
      <vt:lpstr>Monaspace Neon</vt:lpstr>
      <vt:lpstr>Segoe UI</vt:lpstr>
      <vt:lpstr>AMD Corporate Template_Dark</vt:lpstr>
      <vt:lpstr>Pytorch Conference 2026 AMD Skills</vt:lpstr>
      <vt:lpstr>PowerPoint Presentation</vt:lpstr>
      <vt:lpstr>AMD Skills – Overview</vt:lpstr>
      <vt:lpstr>AMD Skills – What is in the catalog?</vt:lpstr>
      <vt:lpstr>AMD Skills – Different ways of getting access</vt:lpstr>
      <vt:lpstr>AMD Skills – Installing on Codex</vt:lpstr>
      <vt:lpstr>AMD Skills – Installing on Claude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AMD Skills – Skill Evaluation</vt:lpstr>
      <vt:lpstr>AMD Skills – Skill Evaluation</vt:lpstr>
      <vt:lpstr>PowerPoint Presentation</vt:lpstr>
      <vt:lpstr>PowerPoint Presentation</vt:lpstr>
      <vt:lpstr>PowerPoint Presentation</vt:lpstr>
    </vt:vector>
  </TitlesOfParts>
  <Manager>&lt;Comms manager name here&gt;</Manager>
  <Company>AMD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AMD Corporate Powerpoint Template</dc:subject>
  <dc:creator>Holanda Noronha, Daniel</dc:creator>
  <cp:keywords>AMD Corporate Powerpoint Template</cp:keywords>
  <dc:description/>
  <cp:lastModifiedBy>Sivasubramony, Sreeram</cp:lastModifiedBy>
  <cp:revision>4</cp:revision>
  <cp:lastPrinted>2020-04-30T18:59:47Z</cp:lastPrinted>
  <dcterms:created xsi:type="dcterms:W3CDTF">2026-08-25T21:07:23Z</dcterms:created>
  <dcterms:modified xsi:type="dcterms:W3CDTF">2026-10-19T23:23:43Z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2021-07-26T15:24:38</vt:lpwstr>
  </property>
  <property fmtid="{D5CDD505-2E9C-101B-9397-08002B2CF9AE}" pid="6" name="MSIP_Label_64e4cbe8-b4f6-45dc-bcba-6123dfd2d8bf_Enabled">
    <vt:lpwstr>true</vt:lpwstr>
  </property>
  <property fmtid="{D5CDD505-2E9C-101B-9397-08002B2CF9AE}" pid="7" name="MSIP_Label_64e4cbe8-b4f6-45dc-bcba-6123dfd2d8bf_SetDate">
    <vt:lpwstr>2024-02-15T15:59:13Z</vt:lpwstr>
  </property>
  <property fmtid="{D5CDD505-2E9C-101B-9397-08002B2CF9AE}" pid="8" name="MSIP_Label_64e4cbe8-b4f6-45dc-bcba-6123dfd2d8bf_Method">
    <vt:lpwstr>Privileged</vt:lpwstr>
  </property>
  <property fmtid="{D5CDD505-2E9C-101B-9397-08002B2CF9AE}" pid="9" name="MSIP_Label_64e4cbe8-b4f6-45dc-bcba-6123dfd2d8bf_Name">
    <vt:lpwstr>Non-Business-AIP 2.0</vt:lpwstr>
  </property>
  <property fmtid="{D5CDD505-2E9C-101B-9397-08002B2CF9AE}" pid="10" name="MSIP_Label_64e4cbe8-b4f6-45dc-bcba-6123dfd2d8bf_SiteId">
    <vt:lpwstr>3dd8961f-e488-4e60-8e11-a82d994e183d</vt:lpwstr>
  </property>
  <property fmtid="{D5CDD505-2E9C-101B-9397-08002B2CF9AE}" pid="11" name="MSIP_Label_64e4cbe8-b4f6-45dc-bcba-6123dfd2d8bf_ActionId">
    <vt:lpwstr>c382c031-d868-43ef-a7b1-f4e852747774</vt:lpwstr>
  </property>
  <property fmtid="{D5CDD505-2E9C-101B-9397-08002B2CF9AE}" pid="12" name="MSIP_Label_64e4cbe8-b4f6-45dc-bcba-6123dfd2d8bf_ContentBits">
    <vt:lpwstr>0</vt:lpwstr>
  </property>
  <property fmtid="{D5CDD505-2E9C-101B-9397-08002B2CF9AE}" pid="13" name="ClassificationContentMarkingHeaderLocations">
    <vt:lpwstr>AMD Corporate Template_Dark:6</vt:lpwstr>
  </property>
  <property fmtid="{D5CDD505-2E9C-101B-9397-08002B2CF9AE}" pid="14" name="ClassificationContentMarkingHeaderText">
    <vt:lpwstr>Public</vt:lpwstr>
  </property>
  <property fmtid="{D5CDD505-2E9C-101B-9397-08002B2CF9AE}" pid="15" name="ContentTypeId">
    <vt:lpwstr>0x010100F71D0F9B23DDFB47BD9D00339B83345E</vt:lpwstr>
  </property>
</Properties>
</file>